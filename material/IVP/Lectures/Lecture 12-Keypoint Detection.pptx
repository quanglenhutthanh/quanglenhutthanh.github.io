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325" r:id="rId4"/>
    <p:sldId id="290" r:id="rId5"/>
    <p:sldId id="291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307" r:id="rId21"/>
    <p:sldId id="308" r:id="rId22"/>
    <p:sldId id="309" r:id="rId23"/>
    <p:sldId id="310" r:id="rId24"/>
    <p:sldId id="311" r:id="rId25"/>
    <p:sldId id="312" r:id="rId26"/>
    <p:sldId id="313" r:id="rId27"/>
    <p:sldId id="314" r:id="rId28"/>
    <p:sldId id="315" r:id="rId29"/>
    <p:sldId id="316" r:id="rId30"/>
    <p:sldId id="292" r:id="rId31"/>
    <p:sldId id="324" r:id="rId32"/>
  </p:sldIdLst>
  <p:sldSz cx="12192000" cy="6858000"/>
  <p:notesSz cx="6858000" cy="9144000"/>
  <p:embeddedFontLst>
    <p:embeddedFont>
      <p:font typeface="Bahnschrift Light SemiCondensed" panose="020B0502040204020203" pitchFamily="34" charset="0"/>
      <p:regular r:id="rId34"/>
    </p:embeddedFont>
    <p:embeddedFont>
      <p:font typeface="Bahnschrift SemiBold" panose="020B0502040204020203" pitchFamily="34" charset="0"/>
      <p:bold r:id="rId35"/>
    </p:embeddedFont>
    <p:embeddedFont>
      <p:font typeface="Bahnschrift SemiBold SemiConden" panose="020B0502040204020203" pitchFamily="34" charset="0"/>
      <p:bold r:id="rId36"/>
    </p:embeddedFont>
    <p:embeddedFont>
      <p:font typeface="Bahnschrift SemiLight" panose="020B0502040204020203" pitchFamily="34" charset="0"/>
      <p:regular r:id="rId37"/>
    </p:embeddedFont>
    <p:embeddedFont>
      <p:font typeface="Gill Sans" panose="020B0604020202020204" charset="0"/>
      <p:regular r:id="rId38"/>
      <p:bold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9" roundtripDataSignature="AMtx7mhfJDRJKRErmuposalttpLaepPN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8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89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90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9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h Nguyen" userId="990796c8b1d6cd14" providerId="LiveId" clId="{95193ACF-570C-4D7C-A54E-5E0D64DA82AB}"/>
    <pc:docChg chg="modSld">
      <pc:chgData name="Minh Nguyen" userId="990796c8b1d6cd14" providerId="LiveId" clId="{95193ACF-570C-4D7C-A54E-5E0D64DA82AB}" dt="2022-11-28T21:32:44.334" v="3" actId="20577"/>
      <pc:docMkLst>
        <pc:docMk/>
      </pc:docMkLst>
      <pc:sldChg chg="modSp mod">
        <pc:chgData name="Minh Nguyen" userId="990796c8b1d6cd14" providerId="LiveId" clId="{95193ACF-570C-4D7C-A54E-5E0D64DA82AB}" dt="2022-11-28T21:32:39.687" v="1" actId="20577"/>
        <pc:sldMkLst>
          <pc:docMk/>
          <pc:sldMk cId="0" sldId="256"/>
        </pc:sldMkLst>
        <pc:spChg chg="mod">
          <ac:chgData name="Minh Nguyen" userId="990796c8b1d6cd14" providerId="LiveId" clId="{95193ACF-570C-4D7C-A54E-5E0D64DA82AB}" dt="2022-11-28T21:32:39.687" v="1" actId="20577"/>
          <ac:spMkLst>
            <pc:docMk/>
            <pc:sldMk cId="0" sldId="256"/>
            <ac:spMk id="106" creationId="{00000000-0000-0000-0000-000000000000}"/>
          </ac:spMkLst>
        </pc:spChg>
      </pc:sldChg>
      <pc:sldChg chg="modSp mod">
        <pc:chgData name="Minh Nguyen" userId="990796c8b1d6cd14" providerId="LiveId" clId="{95193ACF-570C-4D7C-A54E-5E0D64DA82AB}" dt="2022-11-28T21:32:44.334" v="3" actId="20577"/>
        <pc:sldMkLst>
          <pc:docMk/>
          <pc:sldMk cId="0" sldId="257"/>
        </pc:sldMkLst>
        <pc:spChg chg="mod">
          <ac:chgData name="Minh Nguyen" userId="990796c8b1d6cd14" providerId="LiveId" clId="{95193ACF-570C-4D7C-A54E-5E0D64DA82AB}" dt="2022-11-28T21:32:44.334" v="3" actId="20577"/>
          <ac:spMkLst>
            <pc:docMk/>
            <pc:sldMk cId="0" sldId="257"/>
            <ac:spMk id="11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71"/>
          <p:cNvSpPr txBox="1"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Gill Sans"/>
              <a:buNone/>
              <a:defRPr sz="6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1"/>
          <p:cNvSpPr txBox="1"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 cap="none">
                <a:solidFill>
                  <a:schemeClr val="dk1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" name="Google Shape;21;p71"/>
          <p:cNvSpPr txBox="1">
            <a:spLocks noGrp="1"/>
          </p:cNvSpPr>
          <p:nvPr>
            <p:ph type="dt" idx="10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1"/>
          <p:cNvSpPr txBox="1">
            <a:spLocks noGrp="1"/>
          </p:cNvSpPr>
          <p:nvPr>
            <p:ph type="ftr" idx="11"/>
          </p:nvPr>
        </p:nvSpPr>
        <p:spPr>
          <a:xfrm>
            <a:off x="2416500" y="329307"/>
            <a:ext cx="4973915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1"/>
          <p:cNvSpPr txBox="1">
            <a:spLocks noGrp="1"/>
          </p:cNvSpPr>
          <p:nvPr>
            <p:ph type="sldNum" idx="12"/>
          </p:nvPr>
        </p:nvSpPr>
        <p:spPr>
          <a:xfrm>
            <a:off x="1437664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" name="Google Shape;24;p71"/>
          <p:cNvCxnSpPr/>
          <p:nvPr/>
        </p:nvCxnSpPr>
        <p:spPr>
          <a:xfrm>
            <a:off x="2417780" y="3528542"/>
            <a:ext cx="8637072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2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2"/>
          <p:cNvSpPr txBox="1"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72"/>
          <p:cNvSpPr txBox="1">
            <a:spLocks noGrp="1"/>
          </p:cNvSpPr>
          <p:nvPr>
            <p:ph type="dt" idx="10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2"/>
          <p:cNvSpPr txBox="1">
            <a:spLocks noGrp="1"/>
          </p:cNvSpPr>
          <p:nvPr>
            <p:ph type="ftr" idx="11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72"/>
          <p:cNvSpPr txBox="1">
            <a:spLocks noGrp="1"/>
          </p:cNvSpPr>
          <p:nvPr>
            <p:ph type="sldNum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1" name="Google Shape;31;p72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3"/>
          <p:cNvSpPr txBox="1"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3"/>
          <p:cNvSpPr txBox="1"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73"/>
          <p:cNvSpPr txBox="1">
            <a:spLocks noGrp="1"/>
          </p:cNvSpPr>
          <p:nvPr>
            <p:ph type="dt" idx="10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3"/>
          <p:cNvSpPr txBox="1">
            <a:spLocks noGrp="1"/>
          </p:cNvSpPr>
          <p:nvPr>
            <p:ph type="ftr" idx="11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3"/>
          <p:cNvSpPr txBox="1">
            <a:spLocks noGrp="1"/>
          </p:cNvSpPr>
          <p:nvPr>
            <p:ph type="sldNum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8" name="Google Shape;38;p73"/>
          <p:cNvCxnSpPr/>
          <p:nvPr/>
        </p:nvCxnSpPr>
        <p:spPr>
          <a:xfrm>
            <a:off x="1454239" y="3804985"/>
            <a:ext cx="8630446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4"/>
          <p:cNvSpPr txBox="1"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4"/>
          <p:cNvSpPr txBox="1">
            <a:spLocks noGrp="1"/>
          </p:cNvSpPr>
          <p:nvPr>
            <p:ph type="body" idx="1"/>
          </p:nvPr>
        </p:nvSpPr>
        <p:spPr>
          <a:xfrm>
            <a:off x="1447331" y="2010878"/>
            <a:ext cx="4645152" cy="3448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4"/>
          <p:cNvSpPr txBox="1">
            <a:spLocks noGrp="1"/>
          </p:cNvSpPr>
          <p:nvPr>
            <p:ph type="body" idx="2"/>
          </p:nvPr>
        </p:nvSpPr>
        <p:spPr>
          <a:xfrm>
            <a:off x="6413771" y="2017343"/>
            <a:ext cx="4645152" cy="344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74"/>
          <p:cNvSpPr txBox="1">
            <a:spLocks noGrp="1"/>
          </p:cNvSpPr>
          <p:nvPr>
            <p:ph type="dt" idx="10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4"/>
          <p:cNvSpPr txBox="1">
            <a:spLocks noGrp="1"/>
          </p:cNvSpPr>
          <p:nvPr>
            <p:ph type="ftr" idx="11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4"/>
          <p:cNvSpPr txBox="1">
            <a:spLocks noGrp="1"/>
          </p:cNvSpPr>
          <p:nvPr>
            <p:ph type="sldNum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6" name="Google Shape;46;p74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5"/>
          <p:cNvSpPr txBox="1"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5"/>
          <p:cNvSpPr txBox="1"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 b="0" cap="none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75"/>
          <p:cNvSpPr txBox="1">
            <a:spLocks noGrp="1"/>
          </p:cNvSpPr>
          <p:nvPr>
            <p:ph type="body" idx="2"/>
          </p:nvPr>
        </p:nvSpPr>
        <p:spPr>
          <a:xfrm>
            <a:off x="1447191" y="2824269"/>
            <a:ext cx="4645152" cy="2644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75"/>
          <p:cNvSpPr txBox="1">
            <a:spLocks noGrp="1"/>
          </p:cNvSpPr>
          <p:nvPr>
            <p:ph type="body" idx="3"/>
          </p:nvPr>
        </p:nvSpPr>
        <p:spPr>
          <a:xfrm>
            <a:off x="6412362" y="2023003"/>
            <a:ext cx="4645152" cy="802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 b="0" cap="none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75"/>
          <p:cNvSpPr txBox="1">
            <a:spLocks noGrp="1"/>
          </p:cNvSpPr>
          <p:nvPr>
            <p:ph type="body" idx="4"/>
          </p:nvPr>
        </p:nvSpPr>
        <p:spPr>
          <a:xfrm>
            <a:off x="6412362" y="2821491"/>
            <a:ext cx="4645152" cy="2637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75"/>
          <p:cNvSpPr txBox="1">
            <a:spLocks noGrp="1"/>
          </p:cNvSpPr>
          <p:nvPr>
            <p:ph type="dt" idx="10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5"/>
          <p:cNvSpPr txBox="1">
            <a:spLocks noGrp="1"/>
          </p:cNvSpPr>
          <p:nvPr>
            <p:ph type="ftr" idx="11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5"/>
          <p:cNvSpPr txBox="1">
            <a:spLocks noGrp="1"/>
          </p:cNvSpPr>
          <p:nvPr>
            <p:ph type="sldNum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6" name="Google Shape;56;p75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6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6"/>
          <p:cNvSpPr txBox="1">
            <a:spLocks noGrp="1"/>
          </p:cNvSpPr>
          <p:nvPr>
            <p:ph type="dt" idx="10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6"/>
          <p:cNvSpPr txBox="1">
            <a:spLocks noGrp="1"/>
          </p:cNvSpPr>
          <p:nvPr>
            <p:ph type="ftr" idx="11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6"/>
          <p:cNvSpPr txBox="1">
            <a:spLocks noGrp="1"/>
          </p:cNvSpPr>
          <p:nvPr>
            <p:ph type="sldNum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2" name="Google Shape;62;p76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7"/>
          <p:cNvSpPr txBox="1">
            <a:spLocks noGrp="1"/>
          </p:cNvSpPr>
          <p:nvPr>
            <p:ph type="dt" idx="10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77"/>
          <p:cNvSpPr txBox="1">
            <a:spLocks noGrp="1"/>
          </p:cNvSpPr>
          <p:nvPr>
            <p:ph type="ftr" idx="11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77"/>
          <p:cNvSpPr txBox="1">
            <a:spLocks noGrp="1"/>
          </p:cNvSpPr>
          <p:nvPr>
            <p:ph type="sldNum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8"/>
          <p:cNvSpPr txBox="1"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78"/>
          <p:cNvSpPr txBox="1">
            <a:spLocks noGrp="1"/>
          </p:cNvSpPr>
          <p:nvPr>
            <p:ph type="body" idx="1"/>
          </p:nvPr>
        </p:nvSpPr>
        <p:spPr>
          <a:xfrm>
            <a:off x="5043714" y="798974"/>
            <a:ext cx="6012470" cy="465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78"/>
          <p:cNvSpPr txBox="1">
            <a:spLocks noGrp="1"/>
          </p:cNvSpPr>
          <p:nvPr>
            <p:ph type="body" idx="2"/>
          </p:nvPr>
        </p:nvSpPr>
        <p:spPr>
          <a:xfrm>
            <a:off x="1444671" y="3205491"/>
            <a:ext cx="3275013" cy="2248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78"/>
          <p:cNvSpPr txBox="1">
            <a:spLocks noGrp="1"/>
          </p:cNvSpPr>
          <p:nvPr>
            <p:ph type="dt" idx="10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8"/>
          <p:cNvSpPr txBox="1">
            <a:spLocks noGrp="1"/>
          </p:cNvSpPr>
          <p:nvPr>
            <p:ph type="ftr" idx="11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78"/>
          <p:cNvSpPr txBox="1">
            <a:spLocks noGrp="1"/>
          </p:cNvSpPr>
          <p:nvPr>
            <p:ph type="sldNum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4" name="Google Shape;74;p78"/>
          <p:cNvCxnSpPr/>
          <p:nvPr/>
        </p:nvCxnSpPr>
        <p:spPr>
          <a:xfrm>
            <a:off x="1448280" y="3205491"/>
            <a:ext cx="3269490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79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77" name="Google Shape;77;p79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  <a:lin ang="5400000" scaled="0"/>
            </a:gradFill>
            <a:ln>
              <a:noFill/>
            </a:ln>
            <a:effectLst>
              <a:outerShdw blurRad="127000" dist="228600" dir="4740000" sx="98000" sy="98000" algn="tl" rotWithShape="0">
                <a:srgbClr val="000000">
                  <a:alpha val="3372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79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ap="flat" cmpd="sng">
              <a:solidFill>
                <a:srgbClr val="19191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79;p79"/>
          <p:cNvSpPr txBox="1"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79"/>
          <p:cNvSpPr>
            <a:spLocks noGrp="1"/>
          </p:cNvSpPr>
          <p:nvPr>
            <p:ph type="pic" idx="2"/>
          </p:nvPr>
        </p:nvSpPr>
        <p:spPr>
          <a:xfrm>
            <a:off x="8124389" y="1122542"/>
            <a:ext cx="2791171" cy="386632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1" name="Google Shape;81;p79"/>
          <p:cNvSpPr txBox="1">
            <a:spLocks noGrp="1"/>
          </p:cNvSpPr>
          <p:nvPr>
            <p:ph type="body" idx="1"/>
          </p:nvPr>
        </p:nvSpPr>
        <p:spPr>
          <a:xfrm>
            <a:off x="1450329" y="3145992"/>
            <a:ext cx="5524404" cy="2003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2" name="Google Shape;82;p79"/>
          <p:cNvSpPr txBox="1">
            <a:spLocks noGrp="1"/>
          </p:cNvSpPr>
          <p:nvPr>
            <p:ph type="dt" idx="10"/>
          </p:nvPr>
        </p:nvSpPr>
        <p:spPr>
          <a:xfrm>
            <a:off x="1447382" y="5469856"/>
            <a:ext cx="5527351" cy="32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79"/>
          <p:cNvSpPr txBox="1">
            <a:spLocks noGrp="1"/>
          </p:cNvSpPr>
          <p:nvPr>
            <p:ph type="ftr" idx="11"/>
          </p:nvPr>
        </p:nvSpPr>
        <p:spPr>
          <a:xfrm>
            <a:off x="1447382" y="318640"/>
            <a:ext cx="5541004" cy="32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79"/>
          <p:cNvSpPr txBox="1">
            <a:spLocks noGrp="1"/>
          </p:cNvSpPr>
          <p:nvPr>
            <p:ph type="sldNum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5" name="Google Shape;85;p79"/>
          <p:cNvCxnSpPr/>
          <p:nvPr/>
        </p:nvCxnSpPr>
        <p:spPr>
          <a:xfrm>
            <a:off x="1447382" y="3143605"/>
            <a:ext cx="5527351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0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80"/>
          <p:cNvSpPr txBox="1">
            <a:spLocks noGrp="1"/>
          </p:cNvSpPr>
          <p:nvPr>
            <p:ph type="body" idx="1"/>
          </p:nvPr>
        </p:nvSpPr>
        <p:spPr>
          <a:xfrm rot="5400000">
            <a:off x="4527910" y="-1060599"/>
            <a:ext cx="3450613" cy="960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80"/>
          <p:cNvSpPr txBox="1">
            <a:spLocks noGrp="1"/>
          </p:cNvSpPr>
          <p:nvPr>
            <p:ph type="dt" idx="10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0"/>
          <p:cNvSpPr txBox="1">
            <a:spLocks noGrp="1"/>
          </p:cNvSpPr>
          <p:nvPr>
            <p:ph type="ftr" idx="11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80"/>
          <p:cNvSpPr txBox="1">
            <a:spLocks noGrp="1"/>
          </p:cNvSpPr>
          <p:nvPr>
            <p:ph type="sldNum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2" name="Google Shape;92;p80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1"/>
          <p:cNvSpPr txBox="1">
            <a:spLocks noGrp="1"/>
          </p:cNvSpPr>
          <p:nvPr>
            <p:ph type="title"/>
          </p:nvPr>
        </p:nvSpPr>
        <p:spPr>
          <a:xfrm rot="5400000">
            <a:off x="7917038" y="2321047"/>
            <a:ext cx="4659889" cy="16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81"/>
          <p:cNvSpPr txBox="1">
            <a:spLocks noGrp="1"/>
          </p:cNvSpPr>
          <p:nvPr>
            <p:ph type="body" idx="1"/>
          </p:nvPr>
        </p:nvSpPr>
        <p:spPr>
          <a:xfrm rot="5400000">
            <a:off x="3029143" y="-785498"/>
            <a:ext cx="4659889" cy="7828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81"/>
          <p:cNvSpPr txBox="1">
            <a:spLocks noGrp="1"/>
          </p:cNvSpPr>
          <p:nvPr>
            <p:ph type="dt" idx="10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81"/>
          <p:cNvSpPr txBox="1">
            <a:spLocks noGrp="1"/>
          </p:cNvSpPr>
          <p:nvPr>
            <p:ph type="ftr" idx="11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81"/>
          <p:cNvSpPr txBox="1">
            <a:spLocks noGrp="1"/>
          </p:cNvSpPr>
          <p:nvPr>
            <p:ph type="sldNum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9" name="Google Shape;99;p81"/>
          <p:cNvCxnSpPr/>
          <p:nvPr/>
        </p:nvCxnSpPr>
        <p:spPr>
          <a:xfrm>
            <a:off x="9439111" y="798973"/>
            <a:ext cx="0" cy="4659889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0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Google Shape;11;p70"/>
          <p:cNvPicPr preferRelativeResize="0"/>
          <p:nvPr/>
        </p:nvPicPr>
        <p:blipFill rotWithShape="1">
          <a:blip r:embed="rId13">
            <a:alphaModFix/>
          </a:blip>
          <a:srcRect t="1538" b="-1538"/>
          <a:stretch/>
        </p:blipFill>
        <p:spPr>
          <a:xfrm>
            <a:off x="0" y="6126480"/>
            <a:ext cx="1219200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70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70"/>
          <p:cNvSpPr txBox="1"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02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4" name="Google Shape;14;p70"/>
          <p:cNvSpPr txBox="1">
            <a:spLocks noGrp="1"/>
          </p:cNvSpPr>
          <p:nvPr>
            <p:ph type="dt" idx="10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5" name="Google Shape;15;p70"/>
          <p:cNvSpPr txBox="1">
            <a:spLocks noGrp="1"/>
          </p:cNvSpPr>
          <p:nvPr>
            <p:ph type="ftr" idx="11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6" name="Google Shape;16;p70"/>
          <p:cNvSpPr txBox="1">
            <a:spLocks noGrp="1"/>
          </p:cNvSpPr>
          <p:nvPr>
            <p:ph type="sldNum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spcBef>
                <a:spcPts val="0"/>
              </a:spcBef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spcBef>
                <a:spcPts val="0"/>
              </a:spcBef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spcBef>
                <a:spcPts val="0"/>
              </a:spcBef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spcBef>
                <a:spcPts val="0"/>
              </a:spcBef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spcBef>
                <a:spcPts val="0"/>
              </a:spcBef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spcBef>
                <a:spcPts val="0"/>
              </a:spcBef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spcBef>
                <a:spcPts val="0"/>
              </a:spcBef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spcBef>
                <a:spcPts val="0"/>
              </a:spcBef>
              <a:buNone/>
              <a:defRPr sz="2800" b="0" i="0" u="none" strike="noStrike" cap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70"/>
          <p:cNvCxnSpPr/>
          <p:nvPr/>
        </p:nvCxnSpPr>
        <p:spPr>
          <a:xfrm>
            <a:off x="0" y="6128413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000001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youtube.com/watch?v=Z_HwkG90Yvw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youtube.com/watch?v=L7jbcOf5rD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D0CC9CD-808D-423F-A42A-61E07F5C9D8F}"/>
              </a:ext>
            </a:extLst>
          </p:cNvPr>
          <p:cNvSpPr txBox="1"/>
          <p:nvPr/>
        </p:nvSpPr>
        <p:spPr>
          <a:xfrm>
            <a:off x="3815527" y="6266040"/>
            <a:ext cx="4560947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Bahnschrift Light SemiCondensed" panose="020B0502040204020203" pitchFamily="34" charset="0"/>
              </a:rPr>
              <a:t>Ho Chi Minh City, Fall 2025</a:t>
            </a:r>
            <a:endParaRPr lang="vi-VN" sz="2400" dirty="0">
              <a:solidFill>
                <a:schemeClr val="bg1"/>
              </a:solidFill>
              <a:latin typeface="Bahnschrift Light SemiCondensed" panose="020B0502040204020203" pitchFamily="34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61DA51E3-0E32-42D2-A9A5-A39006BA6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7853" y="980714"/>
            <a:ext cx="9587000" cy="2541431"/>
          </a:xfrm>
        </p:spPr>
        <p:txBody>
          <a:bodyPr anchor="ctr">
            <a:noAutofit/>
          </a:bodyPr>
          <a:lstStyle/>
          <a:p>
            <a:pPr algn="r">
              <a:spcBef>
                <a:spcPct val="0"/>
              </a:spcBef>
            </a:pPr>
            <a:r>
              <a:rPr lang="en-US" b="1" kern="1200" cap="all" spc="3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  <a:ea typeface="+mj-ea"/>
                <a:cs typeface="+mj-cs"/>
              </a:rPr>
              <a:t>part </a:t>
            </a:r>
            <a:r>
              <a:rPr lang="en-US" b="1" kern="1200" cap="all" spc="3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  <a:ea typeface="+mj-ea"/>
                <a:cs typeface="+mj-cs"/>
              </a:rPr>
              <a:t>i</a:t>
            </a:r>
            <a:br>
              <a:rPr lang="en-US" b="1" kern="1200" cap="all" spc="3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  <a:ea typeface="+mj-ea"/>
                <a:cs typeface="+mj-cs"/>
              </a:rPr>
            </a:br>
            <a:r>
              <a:rPr lang="en-US" b="1" kern="1200" cap="all" spc="3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  <a:ea typeface="+mj-ea"/>
                <a:cs typeface="+mj-cs"/>
              </a:rPr>
              <a:t>image processing</a:t>
            </a:r>
            <a:endParaRPr lang="vi-VN" b="1" kern="1200" cap="all" spc="3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" panose="020B0502040204020203" pitchFamily="34" charset="0"/>
              <a:ea typeface="+mj-ea"/>
              <a:cs typeface="+mj-cs"/>
            </a:endParaRP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9FDB050B-FFB8-4C65-B54C-AC90452E9D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87315" y="3539226"/>
            <a:ext cx="8961120" cy="1645920"/>
          </a:xfrm>
        </p:spPr>
        <p:txBody>
          <a:bodyPr anchor="ctr">
            <a:noAutofit/>
          </a:bodyPr>
          <a:lstStyle/>
          <a:p>
            <a:pPr marL="0" indent="0" algn="r">
              <a:lnSpc>
                <a:spcPct val="150000"/>
              </a:lnSpc>
              <a:spcBef>
                <a:spcPts val="0"/>
              </a:spcBef>
              <a:buSzPct val="100000"/>
            </a:pPr>
            <a:r>
              <a:rPr lang="en-US" sz="2400" b="1" kern="1200" cap="all" dirty="0">
                <a:solidFill>
                  <a:srgbClr val="002060"/>
                </a:solidFill>
                <a:latin typeface="Bahnschrift SemiBold SemiConden" panose="020B0502040204020203" pitchFamily="34" charset="0"/>
                <a:ea typeface="+mn-ea"/>
                <a:cs typeface="+mn-cs"/>
              </a:rPr>
              <a:t>Instructor: dr. nguyen ngoc truong minh</a:t>
            </a:r>
          </a:p>
          <a:p>
            <a:pPr marL="0" indent="0" algn="r">
              <a:lnSpc>
                <a:spcPct val="150000"/>
              </a:lnSpc>
              <a:spcBef>
                <a:spcPts val="0"/>
              </a:spcBef>
              <a:buSzPct val="100000"/>
            </a:pPr>
            <a:r>
              <a:rPr lang="en-US" sz="2000" b="1" dirty="0">
                <a:solidFill>
                  <a:srgbClr val="002060"/>
                </a:solidFill>
                <a:latin typeface="Bahnschrift SemiBold SemiConden" panose="020B0502040204020203" pitchFamily="34" charset="0"/>
              </a:rPr>
              <a:t>HEAD OF DEPARTMENT OF TELECOMMUNICATIONS</a:t>
            </a:r>
            <a:endParaRPr lang="en-US" sz="2000" b="1" kern="1200" cap="all" dirty="0">
              <a:solidFill>
                <a:srgbClr val="002060"/>
              </a:solidFill>
              <a:latin typeface="Bahnschrift SemiBold SemiConden" panose="020B0502040204020203" pitchFamily="34" charset="0"/>
              <a:ea typeface="+mn-ea"/>
              <a:cs typeface="+mn-cs"/>
            </a:endParaRPr>
          </a:p>
          <a:p>
            <a:pPr marL="0" indent="0" algn="r">
              <a:lnSpc>
                <a:spcPct val="150000"/>
              </a:lnSpc>
              <a:spcBef>
                <a:spcPts val="0"/>
              </a:spcBef>
              <a:buSzPct val="100000"/>
            </a:pPr>
            <a:r>
              <a:rPr lang="en-US" sz="2000" b="1" kern="1200" cap="all" dirty="0">
                <a:solidFill>
                  <a:srgbClr val="002060"/>
                </a:solidFill>
                <a:latin typeface="Bahnschrift SemiBold SemiConden" panose="020B0502040204020203" pitchFamily="34" charset="0"/>
                <a:ea typeface="+mn-ea"/>
                <a:cs typeface="+mn-cs"/>
              </a:rPr>
              <a:t>School of electrical engineering, international university (</a:t>
            </a:r>
            <a:r>
              <a:rPr lang="en-US" sz="2000" b="1" kern="1200" cap="all" dirty="0" err="1">
                <a:solidFill>
                  <a:srgbClr val="002060"/>
                </a:solidFill>
                <a:latin typeface="Bahnschrift SemiBold SemiConden" panose="020B0502040204020203" pitchFamily="34" charset="0"/>
                <a:ea typeface="+mn-ea"/>
                <a:cs typeface="+mn-cs"/>
              </a:rPr>
              <a:t>vnu-hcmc</a:t>
            </a:r>
            <a:r>
              <a:rPr lang="en-US" sz="2000" b="1" kern="1200" cap="all" dirty="0">
                <a:solidFill>
                  <a:srgbClr val="002060"/>
                </a:solidFill>
                <a:latin typeface="Bahnschrift SemiBold SemiConden" panose="020B0502040204020203" pitchFamily="34" charset="0"/>
                <a:ea typeface="+mn-ea"/>
                <a:cs typeface="+mn-cs"/>
              </a:rPr>
              <a:t>)</a:t>
            </a:r>
            <a:endParaRPr lang="vi-VN" sz="2000" b="1" kern="1200" cap="all" dirty="0">
              <a:solidFill>
                <a:srgbClr val="002060"/>
              </a:solidFill>
              <a:latin typeface="Bahnschrift SemiBold SemiConden" panose="020B0502040204020203" pitchFamily="34" charset="0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68FBA0A-0EB6-618E-20E1-07325C303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55" y="55755"/>
            <a:ext cx="2837394" cy="155448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 txBox="1">
            <a:spLocks noGrp="1"/>
          </p:cNvSpPr>
          <p:nvPr>
            <p:ph type="ctrTitle"/>
          </p:nvPr>
        </p:nvSpPr>
        <p:spPr>
          <a:xfrm>
            <a:off x="304799" y="1202074"/>
            <a:ext cx="10750053" cy="231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ctr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70C0"/>
              </a:buClr>
              <a:buSzPts val="4800"/>
            </a:pPr>
            <a:r>
              <a:rPr lang="en-US" sz="6000" b="1" kern="1200" cap="all" dirty="0">
                <a:solidFill>
                  <a:srgbClr val="0070C0"/>
                </a:solidFill>
                <a:latin typeface="Bahnschrift SemiBold SemiConden" panose="020B0502040204020203" pitchFamily="34" charset="0"/>
                <a:ea typeface="+mj-ea"/>
                <a:cs typeface="+mj-cs"/>
              </a:rPr>
              <a:t>LECTURE XI –</a:t>
            </a:r>
            <a:br>
              <a:rPr lang="en-US" sz="6000" b="1" kern="1200" cap="all" dirty="0">
                <a:solidFill>
                  <a:srgbClr val="0070C0"/>
                </a:solidFill>
                <a:latin typeface="Bahnschrift SemiBold SemiConden" panose="020B0502040204020203" pitchFamily="34" charset="0"/>
                <a:ea typeface="+mj-ea"/>
                <a:cs typeface="+mj-cs"/>
              </a:rPr>
            </a:br>
            <a:r>
              <a:rPr lang="en-US" sz="6000" b="1" kern="1200" cap="all" dirty="0">
                <a:solidFill>
                  <a:srgbClr val="0070C0"/>
                </a:solidFill>
                <a:latin typeface="Bahnschrift SemiBold SemiConden" panose="020B0502040204020203" pitchFamily="34" charset="0"/>
                <a:ea typeface="+mj-ea"/>
                <a:cs typeface="+mj-cs"/>
              </a:rPr>
              <a:t>key-point detection</a:t>
            </a:r>
            <a:endParaRPr sz="6000" b="1" kern="1200" cap="all" dirty="0">
              <a:solidFill>
                <a:srgbClr val="0070C0"/>
              </a:solidFill>
              <a:latin typeface="Bahnschrift SemiBold SemiConden" panose="020B0502040204020203" pitchFamily="34" charset="0"/>
              <a:ea typeface="+mj-ea"/>
              <a:cs typeface="+mj-cs"/>
            </a:endParaRPr>
          </a:p>
        </p:txBody>
      </p:sp>
      <p:sp>
        <p:nvSpPr>
          <p:cNvPr id="112" name="Google Shape;112;p2"/>
          <p:cNvSpPr txBox="1">
            <a:spLocks noGrp="1"/>
          </p:cNvSpPr>
          <p:nvPr>
            <p:ph type="subTitle" idx="1"/>
          </p:nvPr>
        </p:nvSpPr>
        <p:spPr>
          <a:xfrm>
            <a:off x="2085475" y="3539224"/>
            <a:ext cx="896112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sz="2400" b="1" kern="1200" cap="all" dirty="0">
                <a:solidFill>
                  <a:schemeClr val="accent5">
                    <a:lumMod val="50000"/>
                  </a:schemeClr>
                </a:solidFill>
                <a:latin typeface="Bahnschrift SemiBold SemiConden" panose="020B0502040204020203" pitchFamily="34" charset="0"/>
                <a:ea typeface="+mn-ea"/>
                <a:cs typeface="+mn-cs"/>
              </a:rPr>
              <a:t>INSTRUCTOR: DR. NGUYEN NGOC TRUONG MINH</a:t>
            </a:r>
            <a:endParaRPr sz="2400" b="1" kern="1200" cap="all" dirty="0">
              <a:solidFill>
                <a:schemeClr val="accent5">
                  <a:lumMod val="50000"/>
                </a:schemeClr>
              </a:solidFill>
              <a:latin typeface="Bahnschrift SemiBold SemiConden" panose="020B0502040204020203" pitchFamily="34" charset="0"/>
              <a:ea typeface="+mn-ea"/>
              <a:cs typeface="+mn-cs"/>
            </a:endParaRPr>
          </a:p>
          <a:p>
            <a:pPr marL="0" lvl="0" indent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sz="2000" b="1" dirty="0">
                <a:solidFill>
                  <a:srgbClr val="002060"/>
                </a:solidFill>
                <a:latin typeface="Bahnschrift SemiBold SemiConden" panose="020B0502040204020203" pitchFamily="34" charset="0"/>
              </a:rPr>
              <a:t>HEAD OF DEPARTMENT OF TELECOMMUNICATIONS</a:t>
            </a:r>
            <a:endParaRPr lang="en-US" sz="2000" b="1" kern="1200" cap="all" dirty="0">
              <a:solidFill>
                <a:schemeClr val="accent5">
                  <a:lumMod val="50000"/>
                </a:schemeClr>
              </a:solidFill>
              <a:latin typeface="Bahnschrift SemiBold SemiConden" panose="020B0502040204020203" pitchFamily="34" charset="0"/>
              <a:ea typeface="+mn-ea"/>
              <a:cs typeface="+mn-cs"/>
            </a:endParaRPr>
          </a:p>
          <a:p>
            <a:pPr marL="0" lvl="0" indent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sz="2000" b="1" kern="1200" cap="all" dirty="0">
                <a:solidFill>
                  <a:schemeClr val="accent5">
                    <a:lumMod val="50000"/>
                  </a:schemeClr>
                </a:solidFill>
                <a:latin typeface="Bahnschrift SemiBold SemiConden" panose="020B0502040204020203" pitchFamily="34" charset="0"/>
                <a:ea typeface="+mn-ea"/>
                <a:cs typeface="+mn-cs"/>
              </a:rPr>
              <a:t>SCHOOL OF ELECTRICAL ENGINEERING, INTERNATIONAL UNIVERSITY (VNU-HCMC)</a:t>
            </a:r>
            <a:endParaRPr sz="2000" b="1" kern="1200" cap="all" dirty="0">
              <a:solidFill>
                <a:schemeClr val="accent5">
                  <a:lumMod val="50000"/>
                </a:schemeClr>
              </a:solidFill>
              <a:latin typeface="Bahnschrift SemiBold SemiConden" panose="020B0502040204020203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74DCA4-6AEC-497E-A3DC-4F5AD06C24B7}"/>
              </a:ext>
            </a:extLst>
          </p:cNvPr>
          <p:cNvSpPr txBox="1"/>
          <p:nvPr/>
        </p:nvSpPr>
        <p:spPr>
          <a:xfrm>
            <a:off x="3815527" y="6266040"/>
            <a:ext cx="4560947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Bahnschrift Light SemiCondensed" panose="020B0502040204020203" pitchFamily="34" charset="0"/>
              </a:rPr>
              <a:t>Ho Chi Minh City, Fall 2025</a:t>
            </a:r>
            <a:endParaRPr lang="vi-VN" sz="2400" dirty="0">
              <a:solidFill>
                <a:schemeClr val="bg1"/>
              </a:solidFill>
              <a:latin typeface="Bahnschrift Light SemiCondensed" panose="020B0502040204020203" pitchFamily="34" charset="0"/>
            </a:endParaRP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06A5346A-1969-437F-8297-999030E15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739" y="102740"/>
            <a:ext cx="4374667" cy="457200"/>
          </a:xfrm>
        </p:spPr>
        <p:txBody>
          <a:bodyPr vert="horz" lIns="91440" tIns="45720" rIns="91440" bIns="45720" rtlCol="0" anchor="ctr"/>
          <a:lstStyle/>
          <a:p>
            <a:r>
              <a:rPr lang="vi-VN" sz="18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Lecture </a:t>
            </a:r>
            <a:r>
              <a:rPr lang="en-US" sz="18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11</a:t>
            </a:r>
            <a:r>
              <a:rPr lang="vi-VN" sz="18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 – </a:t>
            </a:r>
            <a:r>
              <a:rPr lang="en-US" sz="18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Key-point Detection</a:t>
            </a:r>
            <a:endParaRPr lang="vi-VN" sz="1800" b="1" dirty="0">
              <a:solidFill>
                <a:schemeClr val="accent6">
                  <a:lumMod val="50000"/>
                </a:schemeClr>
              </a:solidFill>
              <a:latin typeface="Bahnschrift Light SemiCondensed" panose="020B0502040204020203" pitchFamily="34" charset="0"/>
            </a:endParaRP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C81223A8-FD75-487D-AB5E-548633802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2121" y="108860"/>
            <a:ext cx="811019" cy="503578"/>
          </a:xfrm>
        </p:spPr>
        <p:txBody>
          <a:bodyPr anchor="ctr"/>
          <a:lstStyle/>
          <a:p>
            <a:pPr algn="ctr"/>
            <a:fld id="{9A698A5E-5E21-4EC3-A803-5C8F1359B044}" type="slidenum">
              <a:rPr lang="vi-VN" sz="1800" b="1" smtClean="0">
                <a:latin typeface="Bahnschrift Light SemiCondensed" panose="020B0502040204020203" pitchFamily="34" charset="0"/>
              </a:rPr>
              <a:pPr algn="ctr"/>
              <a:t>2</a:t>
            </a:fld>
            <a:endParaRPr lang="vi-VN" sz="1800" b="1">
              <a:latin typeface="Bahnschrift Light SemiCondensed" panose="020B05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CB0EDD-7B4E-447F-B47C-1831757B9368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r="51842" b="3327"/>
          <a:stretch/>
        </p:blipFill>
        <p:spPr>
          <a:xfrm>
            <a:off x="108860" y="530158"/>
            <a:ext cx="50292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EFCF47-38C8-4BD9-8910-8C372B0E1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1120"/>
            <a:ext cx="12192000" cy="63757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56CABD-2EE0-4AFD-B135-2EEE13D31266}"/>
              </a:ext>
            </a:extLst>
          </p:cNvPr>
          <p:cNvSpPr txBox="1"/>
          <p:nvPr/>
        </p:nvSpPr>
        <p:spPr>
          <a:xfrm>
            <a:off x="0" y="0"/>
            <a:ext cx="5133975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Lecture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11</a:t>
            </a:r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 –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Key-point Detection</a:t>
            </a:r>
            <a:endParaRPr lang="vi-VN" sz="2000" b="1" dirty="0">
              <a:solidFill>
                <a:schemeClr val="accent6">
                  <a:lumMod val="50000"/>
                </a:schemeClr>
              </a:solidFill>
              <a:latin typeface="Bahnschrift Light Semi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2BCB13-6B1C-4DEB-A1F3-B422854E548F}"/>
              </a:ext>
            </a:extLst>
          </p:cNvPr>
          <p:cNvSpPr txBox="1"/>
          <p:nvPr/>
        </p:nvSpPr>
        <p:spPr>
          <a:xfrm>
            <a:off x="0" y="6488668"/>
            <a:ext cx="977265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Bahnschrift SemiBold" panose="020B0502040204020203" pitchFamily="34" charset="0"/>
              </a:rPr>
              <a:t>Image Processing: Dr. Nguyen Ngoc Truong Minh, @2024-2025 International University</a:t>
            </a:r>
            <a:endParaRPr lang="vi-VN" b="1" dirty="0">
              <a:solidFill>
                <a:srgbClr val="00206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7230F9A-B7E8-4581-ACD2-9B69D1AE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325" y="6393418"/>
            <a:ext cx="733425" cy="369332"/>
          </a:xfrm>
        </p:spPr>
        <p:txBody>
          <a:bodyPr/>
          <a:lstStyle/>
          <a:p>
            <a:pPr algn="ctr"/>
            <a:fld id="{65B0476F-0237-4A28-B412-F4FE7420337F}" type="slidenum">
              <a:rPr lang="vi-VN" sz="1800" b="1" smtClean="0">
                <a:solidFill>
                  <a:srgbClr val="7030A0"/>
                </a:solidFill>
                <a:latin typeface="Bahnschrift SemiLight" panose="020B0502040204020203" pitchFamily="34" charset="0"/>
              </a:rPr>
              <a:pPr algn="ctr"/>
              <a:t>3</a:t>
            </a:fld>
            <a:endParaRPr lang="vi-VN" sz="1800" b="1">
              <a:solidFill>
                <a:srgbClr val="7030A0"/>
              </a:solidFill>
              <a:latin typeface="Bahnschrift SemiLight" panose="020B0502040204020203" pitchFamily="34" charset="0"/>
            </a:endParaRPr>
          </a:p>
        </p:txBody>
      </p:sp>
      <p:pic>
        <p:nvPicPr>
          <p:cNvPr id="9" name="Picture 2" descr="International University - Download logo">
            <a:extLst>
              <a:ext uri="{FF2B5EF4-FFF2-40B4-BE49-F238E27FC236}">
                <a16:creationId xmlns:a16="http://schemas.microsoft.com/office/drawing/2014/main" id="{724D8F2E-98D9-49A6-940C-BD77F73A0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7928" y="53165"/>
            <a:ext cx="360907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CD681A8-0377-4948-AA82-F18891E1F9D9}"/>
              </a:ext>
            </a:extLst>
          </p:cNvPr>
          <p:cNvPicPr>
            <a:picLocks/>
          </p:cNvPicPr>
          <p:nvPr/>
        </p:nvPicPr>
        <p:blipFill rotWithShape="1">
          <a:blip r:embed="rId4"/>
          <a:srcRect r="51842" b="3327"/>
          <a:stretch/>
        </p:blipFill>
        <p:spPr>
          <a:xfrm>
            <a:off x="108860" y="530158"/>
            <a:ext cx="50292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186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5782DF-1982-4831-B9F0-A9CDD6A05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8152"/>
            <a:ext cx="12192000" cy="63816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56CABD-2EE0-4AFD-B135-2EEE13D31266}"/>
              </a:ext>
            </a:extLst>
          </p:cNvPr>
          <p:cNvSpPr txBox="1"/>
          <p:nvPr/>
        </p:nvSpPr>
        <p:spPr>
          <a:xfrm>
            <a:off x="0" y="0"/>
            <a:ext cx="5133975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Lecture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11</a:t>
            </a:r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 –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Key-point Detection</a:t>
            </a:r>
            <a:endParaRPr lang="vi-VN" sz="2000" b="1" dirty="0">
              <a:solidFill>
                <a:schemeClr val="accent6">
                  <a:lumMod val="50000"/>
                </a:schemeClr>
              </a:solidFill>
              <a:latin typeface="Bahnschrift Light Semi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2BCB13-6B1C-4DEB-A1F3-B422854E548F}"/>
              </a:ext>
            </a:extLst>
          </p:cNvPr>
          <p:cNvSpPr txBox="1"/>
          <p:nvPr/>
        </p:nvSpPr>
        <p:spPr>
          <a:xfrm>
            <a:off x="0" y="6488668"/>
            <a:ext cx="977265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Bahnschrift SemiBold" panose="020B0502040204020203" pitchFamily="34" charset="0"/>
              </a:rPr>
              <a:t>Image Processing: Dr. Nguyen Ngoc Truong Minh, @2024-2025 International University</a:t>
            </a:r>
            <a:endParaRPr lang="vi-VN" b="1" dirty="0">
              <a:solidFill>
                <a:srgbClr val="00206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7230F9A-B7E8-4581-ACD2-9B69D1AE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325" y="6393418"/>
            <a:ext cx="733425" cy="369332"/>
          </a:xfrm>
        </p:spPr>
        <p:txBody>
          <a:bodyPr/>
          <a:lstStyle/>
          <a:p>
            <a:pPr algn="ctr"/>
            <a:fld id="{65B0476F-0237-4A28-B412-F4FE7420337F}" type="slidenum">
              <a:rPr lang="vi-VN" sz="1800" b="1" smtClean="0">
                <a:solidFill>
                  <a:srgbClr val="7030A0"/>
                </a:solidFill>
                <a:latin typeface="Bahnschrift SemiLight" panose="020B0502040204020203" pitchFamily="34" charset="0"/>
              </a:rPr>
              <a:pPr algn="ctr"/>
              <a:t>4</a:t>
            </a:fld>
            <a:endParaRPr lang="vi-VN" sz="1800" b="1">
              <a:solidFill>
                <a:srgbClr val="7030A0"/>
              </a:solidFill>
              <a:latin typeface="Bahnschrift SemiLight" panose="020B0502040204020203" pitchFamily="34" charset="0"/>
            </a:endParaRPr>
          </a:p>
        </p:txBody>
      </p:sp>
      <p:pic>
        <p:nvPicPr>
          <p:cNvPr id="9" name="Picture 2" descr="International University - Download logo">
            <a:extLst>
              <a:ext uri="{FF2B5EF4-FFF2-40B4-BE49-F238E27FC236}">
                <a16:creationId xmlns:a16="http://schemas.microsoft.com/office/drawing/2014/main" id="{625A268D-2CB8-4F37-A500-2D4115CC20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7928" y="53165"/>
            <a:ext cx="360907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923D5F7-EC06-49FA-BB74-193B3C322542}"/>
              </a:ext>
            </a:extLst>
          </p:cNvPr>
          <p:cNvPicPr>
            <a:picLocks/>
          </p:cNvPicPr>
          <p:nvPr/>
        </p:nvPicPr>
        <p:blipFill rotWithShape="1">
          <a:blip r:embed="rId4"/>
          <a:srcRect r="51842" b="3327"/>
          <a:stretch/>
        </p:blipFill>
        <p:spPr>
          <a:xfrm>
            <a:off x="108860" y="530158"/>
            <a:ext cx="50292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952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17124D-7024-41A7-9CA4-BA3191782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9952"/>
            <a:ext cx="12192000" cy="63780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56CABD-2EE0-4AFD-B135-2EEE13D31266}"/>
              </a:ext>
            </a:extLst>
          </p:cNvPr>
          <p:cNvSpPr txBox="1"/>
          <p:nvPr/>
        </p:nvSpPr>
        <p:spPr>
          <a:xfrm>
            <a:off x="0" y="0"/>
            <a:ext cx="5133975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Lecture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11</a:t>
            </a:r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 –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Key-point Detection</a:t>
            </a:r>
            <a:endParaRPr lang="vi-VN" sz="2000" b="1" dirty="0">
              <a:solidFill>
                <a:schemeClr val="accent6">
                  <a:lumMod val="50000"/>
                </a:schemeClr>
              </a:solidFill>
              <a:latin typeface="Bahnschrift Light Semi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2BCB13-6B1C-4DEB-A1F3-B422854E548F}"/>
              </a:ext>
            </a:extLst>
          </p:cNvPr>
          <p:cNvSpPr txBox="1"/>
          <p:nvPr/>
        </p:nvSpPr>
        <p:spPr>
          <a:xfrm>
            <a:off x="0" y="6488668"/>
            <a:ext cx="977265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Bahnschrift SemiBold" panose="020B0502040204020203" pitchFamily="34" charset="0"/>
              </a:rPr>
              <a:t>Image Processing: Dr. Nguyen Ngoc Truong Minh, @2024-2025 International University</a:t>
            </a:r>
            <a:endParaRPr lang="vi-VN" b="1" dirty="0">
              <a:solidFill>
                <a:srgbClr val="00206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7230F9A-B7E8-4581-ACD2-9B69D1AE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325" y="6393418"/>
            <a:ext cx="733425" cy="369332"/>
          </a:xfrm>
        </p:spPr>
        <p:txBody>
          <a:bodyPr/>
          <a:lstStyle/>
          <a:p>
            <a:pPr algn="ctr"/>
            <a:fld id="{65B0476F-0237-4A28-B412-F4FE7420337F}" type="slidenum">
              <a:rPr lang="vi-VN" sz="1800" b="1" smtClean="0">
                <a:solidFill>
                  <a:srgbClr val="7030A0"/>
                </a:solidFill>
                <a:latin typeface="Bahnschrift SemiLight" panose="020B0502040204020203" pitchFamily="34" charset="0"/>
              </a:rPr>
              <a:pPr algn="ctr"/>
              <a:t>5</a:t>
            </a:fld>
            <a:endParaRPr lang="vi-VN" sz="1800" b="1">
              <a:solidFill>
                <a:srgbClr val="7030A0"/>
              </a:solidFill>
              <a:latin typeface="Bahnschrift SemiLight" panose="020B0502040204020203" pitchFamily="34" charset="0"/>
            </a:endParaRPr>
          </a:p>
        </p:txBody>
      </p:sp>
      <p:pic>
        <p:nvPicPr>
          <p:cNvPr id="9" name="Picture 2" descr="International University - Download logo">
            <a:extLst>
              <a:ext uri="{FF2B5EF4-FFF2-40B4-BE49-F238E27FC236}">
                <a16:creationId xmlns:a16="http://schemas.microsoft.com/office/drawing/2014/main" id="{8B845AC7-7972-430B-878B-581633617D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7928" y="53165"/>
            <a:ext cx="360907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1FCC354-A26D-424A-9B77-62BC600C2462}"/>
              </a:ext>
            </a:extLst>
          </p:cNvPr>
          <p:cNvPicPr>
            <a:picLocks/>
          </p:cNvPicPr>
          <p:nvPr/>
        </p:nvPicPr>
        <p:blipFill rotWithShape="1">
          <a:blip r:embed="rId4"/>
          <a:srcRect r="51842" b="3327"/>
          <a:stretch/>
        </p:blipFill>
        <p:spPr>
          <a:xfrm>
            <a:off x="108860" y="530158"/>
            <a:ext cx="50292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21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2E32DF-668C-4C08-861F-5977FD1A8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2737"/>
            <a:ext cx="12192000" cy="63925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56CABD-2EE0-4AFD-B135-2EEE13D31266}"/>
              </a:ext>
            </a:extLst>
          </p:cNvPr>
          <p:cNvSpPr txBox="1"/>
          <p:nvPr/>
        </p:nvSpPr>
        <p:spPr>
          <a:xfrm>
            <a:off x="0" y="0"/>
            <a:ext cx="5133975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Lecture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11</a:t>
            </a:r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 –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Key-point Detection</a:t>
            </a:r>
            <a:endParaRPr lang="vi-VN" sz="2000" b="1" dirty="0">
              <a:solidFill>
                <a:schemeClr val="accent6">
                  <a:lumMod val="50000"/>
                </a:schemeClr>
              </a:solidFill>
              <a:latin typeface="Bahnschrift Light Semi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2BCB13-6B1C-4DEB-A1F3-B422854E548F}"/>
              </a:ext>
            </a:extLst>
          </p:cNvPr>
          <p:cNvSpPr txBox="1"/>
          <p:nvPr/>
        </p:nvSpPr>
        <p:spPr>
          <a:xfrm>
            <a:off x="0" y="6488668"/>
            <a:ext cx="977265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Bahnschrift SemiBold" panose="020B0502040204020203" pitchFamily="34" charset="0"/>
              </a:rPr>
              <a:t>Image Processing: Dr. Nguyen Ngoc Truong Minh, @2024-2025 International University</a:t>
            </a:r>
            <a:endParaRPr lang="vi-VN" b="1" dirty="0">
              <a:solidFill>
                <a:srgbClr val="00206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7230F9A-B7E8-4581-ACD2-9B69D1AE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325" y="6393418"/>
            <a:ext cx="733425" cy="369332"/>
          </a:xfrm>
        </p:spPr>
        <p:txBody>
          <a:bodyPr/>
          <a:lstStyle/>
          <a:p>
            <a:pPr algn="ctr"/>
            <a:fld id="{65B0476F-0237-4A28-B412-F4FE7420337F}" type="slidenum">
              <a:rPr lang="vi-VN" sz="1800" b="1" smtClean="0">
                <a:solidFill>
                  <a:srgbClr val="7030A0"/>
                </a:solidFill>
                <a:latin typeface="Bahnschrift SemiLight" panose="020B0502040204020203" pitchFamily="34" charset="0"/>
              </a:rPr>
              <a:pPr algn="ctr"/>
              <a:t>6</a:t>
            </a:fld>
            <a:endParaRPr lang="vi-VN" sz="1800" b="1">
              <a:solidFill>
                <a:srgbClr val="7030A0"/>
              </a:solidFill>
              <a:latin typeface="Bahnschrift SemiLight" panose="020B0502040204020203" pitchFamily="34" charset="0"/>
            </a:endParaRPr>
          </a:p>
        </p:txBody>
      </p:sp>
      <p:pic>
        <p:nvPicPr>
          <p:cNvPr id="9" name="Picture 2" descr="International University - Download logo">
            <a:extLst>
              <a:ext uri="{FF2B5EF4-FFF2-40B4-BE49-F238E27FC236}">
                <a16:creationId xmlns:a16="http://schemas.microsoft.com/office/drawing/2014/main" id="{9BD742CE-7286-4B66-A61A-4843160EBE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7928" y="53165"/>
            <a:ext cx="360907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88C3793-BD29-431E-AE8B-302878C24A61}"/>
              </a:ext>
            </a:extLst>
          </p:cNvPr>
          <p:cNvPicPr>
            <a:picLocks/>
          </p:cNvPicPr>
          <p:nvPr/>
        </p:nvPicPr>
        <p:blipFill rotWithShape="1">
          <a:blip r:embed="rId4"/>
          <a:srcRect r="51842" b="3327"/>
          <a:stretch/>
        </p:blipFill>
        <p:spPr>
          <a:xfrm>
            <a:off x="108860" y="530158"/>
            <a:ext cx="50292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974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701D6C-EDF1-48E5-85DA-A0285B426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930"/>
            <a:ext cx="12192000" cy="64121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56CABD-2EE0-4AFD-B135-2EEE13D31266}"/>
              </a:ext>
            </a:extLst>
          </p:cNvPr>
          <p:cNvSpPr txBox="1"/>
          <p:nvPr/>
        </p:nvSpPr>
        <p:spPr>
          <a:xfrm>
            <a:off x="0" y="0"/>
            <a:ext cx="5133975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Lecture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11</a:t>
            </a:r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 –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Key-point Detection</a:t>
            </a:r>
            <a:endParaRPr lang="vi-VN" sz="2000" b="1" dirty="0">
              <a:solidFill>
                <a:schemeClr val="accent6">
                  <a:lumMod val="50000"/>
                </a:schemeClr>
              </a:solidFill>
              <a:latin typeface="Bahnschrift Light Semi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2BCB13-6B1C-4DEB-A1F3-B422854E548F}"/>
              </a:ext>
            </a:extLst>
          </p:cNvPr>
          <p:cNvSpPr txBox="1"/>
          <p:nvPr/>
        </p:nvSpPr>
        <p:spPr>
          <a:xfrm>
            <a:off x="0" y="6488668"/>
            <a:ext cx="977265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Bahnschrift SemiBold" panose="020B0502040204020203" pitchFamily="34" charset="0"/>
              </a:rPr>
              <a:t>Image Processing: Dr. Nguyen Ngoc Truong Minh, @2024-2025 International University</a:t>
            </a:r>
            <a:endParaRPr lang="vi-VN" b="1" dirty="0">
              <a:solidFill>
                <a:srgbClr val="00206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7230F9A-B7E8-4581-ACD2-9B69D1AE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325" y="6393418"/>
            <a:ext cx="733425" cy="369332"/>
          </a:xfrm>
        </p:spPr>
        <p:txBody>
          <a:bodyPr/>
          <a:lstStyle/>
          <a:p>
            <a:pPr algn="ctr"/>
            <a:fld id="{65B0476F-0237-4A28-B412-F4FE7420337F}" type="slidenum">
              <a:rPr lang="vi-VN" sz="1800" b="1" smtClean="0">
                <a:solidFill>
                  <a:srgbClr val="7030A0"/>
                </a:solidFill>
                <a:latin typeface="Bahnschrift SemiLight" panose="020B0502040204020203" pitchFamily="34" charset="0"/>
              </a:rPr>
              <a:pPr algn="ctr"/>
              <a:t>7</a:t>
            </a:fld>
            <a:endParaRPr lang="vi-VN" sz="1800" b="1">
              <a:solidFill>
                <a:srgbClr val="7030A0"/>
              </a:solidFill>
              <a:latin typeface="Bahnschrift SemiLight" panose="020B0502040204020203" pitchFamily="34" charset="0"/>
            </a:endParaRPr>
          </a:p>
        </p:txBody>
      </p:sp>
      <p:pic>
        <p:nvPicPr>
          <p:cNvPr id="9" name="Picture 2" descr="International University - Download logo">
            <a:extLst>
              <a:ext uri="{FF2B5EF4-FFF2-40B4-BE49-F238E27FC236}">
                <a16:creationId xmlns:a16="http://schemas.microsoft.com/office/drawing/2014/main" id="{6CAEFC00-D53E-4C83-9F72-5F55C2DD9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7928" y="53165"/>
            <a:ext cx="360907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34D8DC-E921-4C15-8623-E448FF49DDC0}"/>
              </a:ext>
            </a:extLst>
          </p:cNvPr>
          <p:cNvPicPr>
            <a:picLocks/>
          </p:cNvPicPr>
          <p:nvPr/>
        </p:nvPicPr>
        <p:blipFill rotWithShape="1">
          <a:blip r:embed="rId4"/>
          <a:srcRect r="51842" b="3327"/>
          <a:stretch/>
        </p:blipFill>
        <p:spPr>
          <a:xfrm>
            <a:off x="108860" y="530158"/>
            <a:ext cx="50292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08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BD754B-DA4F-4EBD-8562-15149CBB8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215"/>
            <a:ext cx="12192000" cy="64175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56CABD-2EE0-4AFD-B135-2EEE13D31266}"/>
              </a:ext>
            </a:extLst>
          </p:cNvPr>
          <p:cNvSpPr txBox="1"/>
          <p:nvPr/>
        </p:nvSpPr>
        <p:spPr>
          <a:xfrm>
            <a:off x="0" y="0"/>
            <a:ext cx="5133975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Lecture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11</a:t>
            </a:r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 –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Key-point Detection</a:t>
            </a:r>
            <a:endParaRPr lang="vi-VN" sz="2000" b="1" dirty="0">
              <a:solidFill>
                <a:schemeClr val="accent6">
                  <a:lumMod val="50000"/>
                </a:schemeClr>
              </a:solidFill>
              <a:latin typeface="Bahnschrift Light Semi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2BCB13-6B1C-4DEB-A1F3-B422854E548F}"/>
              </a:ext>
            </a:extLst>
          </p:cNvPr>
          <p:cNvSpPr txBox="1"/>
          <p:nvPr/>
        </p:nvSpPr>
        <p:spPr>
          <a:xfrm>
            <a:off x="0" y="6488668"/>
            <a:ext cx="977265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Bahnschrift SemiBold" panose="020B0502040204020203" pitchFamily="34" charset="0"/>
              </a:rPr>
              <a:t>Image Processing: Dr. Nguyen Ngoc Truong Minh, @2024-2025 International University</a:t>
            </a:r>
            <a:endParaRPr lang="vi-VN" b="1" dirty="0">
              <a:solidFill>
                <a:srgbClr val="00206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7230F9A-B7E8-4581-ACD2-9B69D1AE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325" y="6393418"/>
            <a:ext cx="733425" cy="369332"/>
          </a:xfrm>
        </p:spPr>
        <p:txBody>
          <a:bodyPr/>
          <a:lstStyle/>
          <a:p>
            <a:pPr algn="ctr"/>
            <a:fld id="{65B0476F-0237-4A28-B412-F4FE7420337F}" type="slidenum">
              <a:rPr lang="vi-VN" sz="1800" b="1" smtClean="0">
                <a:solidFill>
                  <a:srgbClr val="7030A0"/>
                </a:solidFill>
                <a:latin typeface="Bahnschrift SemiLight" panose="020B0502040204020203" pitchFamily="34" charset="0"/>
              </a:rPr>
              <a:pPr algn="ctr"/>
              <a:t>8</a:t>
            </a:fld>
            <a:endParaRPr lang="vi-VN" sz="1800" b="1">
              <a:solidFill>
                <a:srgbClr val="7030A0"/>
              </a:solidFill>
              <a:latin typeface="Bahnschrift SemiLight" panose="020B0502040204020203" pitchFamily="34" charset="0"/>
            </a:endParaRPr>
          </a:p>
        </p:txBody>
      </p:sp>
      <p:pic>
        <p:nvPicPr>
          <p:cNvPr id="9" name="Picture 2" descr="International University - Download logo">
            <a:extLst>
              <a:ext uri="{FF2B5EF4-FFF2-40B4-BE49-F238E27FC236}">
                <a16:creationId xmlns:a16="http://schemas.microsoft.com/office/drawing/2014/main" id="{A20AD5D6-DE61-422C-A204-BCC9820D4B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7928" y="53165"/>
            <a:ext cx="360907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49905D-F67C-45FB-BA8C-6A5025E55FD1}"/>
              </a:ext>
            </a:extLst>
          </p:cNvPr>
          <p:cNvPicPr>
            <a:picLocks/>
          </p:cNvPicPr>
          <p:nvPr/>
        </p:nvPicPr>
        <p:blipFill rotWithShape="1">
          <a:blip r:embed="rId4"/>
          <a:srcRect r="51842" b="3327"/>
          <a:stretch/>
        </p:blipFill>
        <p:spPr>
          <a:xfrm>
            <a:off x="108860" y="530158"/>
            <a:ext cx="50292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904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08B621-5997-4C0B-9332-A23CF25CA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4378"/>
            <a:ext cx="12192000" cy="63892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56CABD-2EE0-4AFD-B135-2EEE13D31266}"/>
              </a:ext>
            </a:extLst>
          </p:cNvPr>
          <p:cNvSpPr txBox="1"/>
          <p:nvPr/>
        </p:nvSpPr>
        <p:spPr>
          <a:xfrm>
            <a:off x="0" y="0"/>
            <a:ext cx="5133975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Lecture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11</a:t>
            </a:r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 –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Key-point Detection</a:t>
            </a:r>
            <a:endParaRPr lang="vi-VN" sz="2000" b="1" dirty="0">
              <a:solidFill>
                <a:schemeClr val="accent6">
                  <a:lumMod val="50000"/>
                </a:schemeClr>
              </a:solidFill>
              <a:latin typeface="Bahnschrift Light Semi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2BCB13-6B1C-4DEB-A1F3-B422854E548F}"/>
              </a:ext>
            </a:extLst>
          </p:cNvPr>
          <p:cNvSpPr txBox="1"/>
          <p:nvPr/>
        </p:nvSpPr>
        <p:spPr>
          <a:xfrm>
            <a:off x="0" y="6488668"/>
            <a:ext cx="977265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Bahnschrift SemiBold" panose="020B0502040204020203" pitchFamily="34" charset="0"/>
              </a:rPr>
              <a:t>Image Processing: Dr. Nguyen Ngoc Truong Minh, @2024-2025 International University</a:t>
            </a:r>
            <a:endParaRPr lang="vi-VN" b="1" dirty="0">
              <a:solidFill>
                <a:srgbClr val="00206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7230F9A-B7E8-4581-ACD2-9B69D1AE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325" y="6393418"/>
            <a:ext cx="733425" cy="369332"/>
          </a:xfrm>
        </p:spPr>
        <p:txBody>
          <a:bodyPr/>
          <a:lstStyle/>
          <a:p>
            <a:pPr algn="ctr"/>
            <a:fld id="{65B0476F-0237-4A28-B412-F4FE7420337F}" type="slidenum">
              <a:rPr lang="vi-VN" sz="1800" b="1" smtClean="0">
                <a:solidFill>
                  <a:srgbClr val="7030A0"/>
                </a:solidFill>
                <a:latin typeface="Bahnschrift SemiLight" panose="020B0502040204020203" pitchFamily="34" charset="0"/>
              </a:rPr>
              <a:pPr algn="ctr"/>
              <a:t>9</a:t>
            </a:fld>
            <a:endParaRPr lang="vi-VN" sz="1800" b="1">
              <a:solidFill>
                <a:srgbClr val="7030A0"/>
              </a:solidFill>
              <a:latin typeface="Bahnschrift SemiLight" panose="020B0502040204020203" pitchFamily="34" charset="0"/>
            </a:endParaRPr>
          </a:p>
        </p:txBody>
      </p:sp>
      <p:pic>
        <p:nvPicPr>
          <p:cNvPr id="9" name="Picture 2" descr="International University - Download logo">
            <a:extLst>
              <a:ext uri="{FF2B5EF4-FFF2-40B4-BE49-F238E27FC236}">
                <a16:creationId xmlns:a16="http://schemas.microsoft.com/office/drawing/2014/main" id="{A3F115FD-2230-44EA-BA32-57DF4B19C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7928" y="53165"/>
            <a:ext cx="360907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1731AED-E65E-429C-B9B5-2BB67EEF86DA}"/>
              </a:ext>
            </a:extLst>
          </p:cNvPr>
          <p:cNvPicPr>
            <a:picLocks/>
          </p:cNvPicPr>
          <p:nvPr/>
        </p:nvPicPr>
        <p:blipFill rotWithShape="1">
          <a:blip r:embed="rId4"/>
          <a:srcRect r="51842" b="3327"/>
          <a:stretch/>
        </p:blipFill>
        <p:spPr>
          <a:xfrm>
            <a:off x="108860" y="530158"/>
            <a:ext cx="50292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328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D004AF-2A0C-44C1-AF07-9E412A58D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6017"/>
            <a:ext cx="12192000" cy="64059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56CABD-2EE0-4AFD-B135-2EEE13D31266}"/>
              </a:ext>
            </a:extLst>
          </p:cNvPr>
          <p:cNvSpPr txBox="1"/>
          <p:nvPr/>
        </p:nvSpPr>
        <p:spPr>
          <a:xfrm>
            <a:off x="0" y="0"/>
            <a:ext cx="5133975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Lecture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11</a:t>
            </a:r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 –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Key-point Detection</a:t>
            </a:r>
            <a:endParaRPr lang="vi-VN" sz="2000" b="1" dirty="0">
              <a:solidFill>
                <a:schemeClr val="accent6">
                  <a:lumMod val="50000"/>
                </a:schemeClr>
              </a:solidFill>
              <a:latin typeface="Bahnschrift Light Semi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2BCB13-6B1C-4DEB-A1F3-B422854E548F}"/>
              </a:ext>
            </a:extLst>
          </p:cNvPr>
          <p:cNvSpPr txBox="1"/>
          <p:nvPr/>
        </p:nvSpPr>
        <p:spPr>
          <a:xfrm>
            <a:off x="0" y="6488668"/>
            <a:ext cx="977265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Bahnschrift SemiBold" panose="020B0502040204020203" pitchFamily="34" charset="0"/>
              </a:rPr>
              <a:t>Image Processing: Dr. Nguyen Ngoc Truong Minh, @2024-2025 International University</a:t>
            </a:r>
            <a:endParaRPr lang="vi-VN" b="1" dirty="0">
              <a:solidFill>
                <a:srgbClr val="00206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7230F9A-B7E8-4581-ACD2-9B69D1AE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325" y="6393418"/>
            <a:ext cx="733425" cy="369332"/>
          </a:xfrm>
        </p:spPr>
        <p:txBody>
          <a:bodyPr/>
          <a:lstStyle/>
          <a:p>
            <a:pPr algn="ctr"/>
            <a:fld id="{65B0476F-0237-4A28-B412-F4FE7420337F}" type="slidenum">
              <a:rPr lang="vi-VN" sz="1800" b="1" smtClean="0">
                <a:solidFill>
                  <a:srgbClr val="7030A0"/>
                </a:solidFill>
                <a:latin typeface="Bahnschrift SemiLight" panose="020B0502040204020203" pitchFamily="34" charset="0"/>
              </a:rPr>
              <a:pPr algn="ctr"/>
              <a:t>10</a:t>
            </a:fld>
            <a:endParaRPr lang="vi-VN" sz="1800" b="1">
              <a:solidFill>
                <a:srgbClr val="7030A0"/>
              </a:solidFill>
              <a:latin typeface="Bahnschrift SemiLight" panose="020B0502040204020203" pitchFamily="34" charset="0"/>
            </a:endParaRPr>
          </a:p>
        </p:txBody>
      </p:sp>
      <p:pic>
        <p:nvPicPr>
          <p:cNvPr id="9" name="Picture 2" descr="International University - Download logo">
            <a:extLst>
              <a:ext uri="{FF2B5EF4-FFF2-40B4-BE49-F238E27FC236}">
                <a16:creationId xmlns:a16="http://schemas.microsoft.com/office/drawing/2014/main" id="{DC0BB853-631B-4118-8CFB-EED937FB4C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7928" y="53165"/>
            <a:ext cx="360907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2AB0358-ABEB-4B83-9148-25EB28A7639D}"/>
              </a:ext>
            </a:extLst>
          </p:cNvPr>
          <p:cNvPicPr>
            <a:picLocks/>
          </p:cNvPicPr>
          <p:nvPr/>
        </p:nvPicPr>
        <p:blipFill rotWithShape="1">
          <a:blip r:embed="rId4"/>
          <a:srcRect r="51842" b="3327"/>
          <a:stretch/>
        </p:blipFill>
        <p:spPr>
          <a:xfrm>
            <a:off x="108860" y="530158"/>
            <a:ext cx="50292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189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7D496A-E8A8-4C5F-9FEB-0995532F6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7828"/>
            <a:ext cx="12192000" cy="63823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56CABD-2EE0-4AFD-B135-2EEE13D31266}"/>
              </a:ext>
            </a:extLst>
          </p:cNvPr>
          <p:cNvSpPr txBox="1"/>
          <p:nvPr/>
        </p:nvSpPr>
        <p:spPr>
          <a:xfrm>
            <a:off x="0" y="0"/>
            <a:ext cx="5133975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Lecture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11</a:t>
            </a:r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 –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Key-point Detection</a:t>
            </a:r>
            <a:endParaRPr lang="vi-VN" sz="2000" b="1" dirty="0">
              <a:solidFill>
                <a:schemeClr val="accent6">
                  <a:lumMod val="50000"/>
                </a:schemeClr>
              </a:solidFill>
              <a:latin typeface="Bahnschrift Light Semi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2BCB13-6B1C-4DEB-A1F3-B422854E548F}"/>
              </a:ext>
            </a:extLst>
          </p:cNvPr>
          <p:cNvSpPr txBox="1"/>
          <p:nvPr/>
        </p:nvSpPr>
        <p:spPr>
          <a:xfrm>
            <a:off x="0" y="6488668"/>
            <a:ext cx="977265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Bahnschrift SemiBold" panose="020B0502040204020203" pitchFamily="34" charset="0"/>
              </a:rPr>
              <a:t>Image Processing: Dr. Nguyen Ngoc Truong Minh, @2024-2025 International University</a:t>
            </a:r>
            <a:endParaRPr lang="vi-VN" b="1" dirty="0">
              <a:solidFill>
                <a:srgbClr val="00206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7230F9A-B7E8-4581-ACD2-9B69D1AE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325" y="6393418"/>
            <a:ext cx="733425" cy="369332"/>
          </a:xfrm>
        </p:spPr>
        <p:txBody>
          <a:bodyPr/>
          <a:lstStyle/>
          <a:p>
            <a:pPr algn="ctr"/>
            <a:fld id="{65B0476F-0237-4A28-B412-F4FE7420337F}" type="slidenum">
              <a:rPr lang="vi-VN" sz="1800" b="1" smtClean="0">
                <a:solidFill>
                  <a:srgbClr val="7030A0"/>
                </a:solidFill>
                <a:latin typeface="Bahnschrift SemiLight" panose="020B0502040204020203" pitchFamily="34" charset="0"/>
              </a:rPr>
              <a:pPr algn="ctr"/>
              <a:t>11</a:t>
            </a:fld>
            <a:endParaRPr lang="vi-VN" sz="1800" b="1">
              <a:solidFill>
                <a:srgbClr val="7030A0"/>
              </a:solidFill>
              <a:latin typeface="Bahnschrift SemiLight" panose="020B0502040204020203" pitchFamily="34" charset="0"/>
            </a:endParaRPr>
          </a:p>
        </p:txBody>
      </p:sp>
      <p:pic>
        <p:nvPicPr>
          <p:cNvPr id="9" name="Picture 2" descr="International University - Download logo">
            <a:extLst>
              <a:ext uri="{FF2B5EF4-FFF2-40B4-BE49-F238E27FC236}">
                <a16:creationId xmlns:a16="http://schemas.microsoft.com/office/drawing/2014/main" id="{8734DAB6-FA8D-4B1A-B593-CE6E6A900A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7928" y="53165"/>
            <a:ext cx="360907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A548AD3-A33D-4B91-BB01-AA80F3751D09}"/>
              </a:ext>
            </a:extLst>
          </p:cNvPr>
          <p:cNvPicPr>
            <a:picLocks/>
          </p:cNvPicPr>
          <p:nvPr/>
        </p:nvPicPr>
        <p:blipFill rotWithShape="1">
          <a:blip r:embed="rId4"/>
          <a:srcRect r="51842" b="3327"/>
          <a:stretch/>
        </p:blipFill>
        <p:spPr>
          <a:xfrm>
            <a:off x="108860" y="530158"/>
            <a:ext cx="50292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27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C7A9FB-715D-4F4E-8EFA-B2F42D256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8152"/>
            <a:ext cx="12192000" cy="63816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56CABD-2EE0-4AFD-B135-2EEE13D31266}"/>
              </a:ext>
            </a:extLst>
          </p:cNvPr>
          <p:cNvSpPr txBox="1"/>
          <p:nvPr/>
        </p:nvSpPr>
        <p:spPr>
          <a:xfrm>
            <a:off x="0" y="0"/>
            <a:ext cx="5133975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Lecture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11</a:t>
            </a:r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 –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Key-point Detection</a:t>
            </a:r>
            <a:endParaRPr lang="vi-VN" sz="2000" b="1" dirty="0">
              <a:solidFill>
                <a:schemeClr val="accent6">
                  <a:lumMod val="50000"/>
                </a:schemeClr>
              </a:solidFill>
              <a:latin typeface="Bahnschrift Light Semi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2BCB13-6B1C-4DEB-A1F3-B422854E548F}"/>
              </a:ext>
            </a:extLst>
          </p:cNvPr>
          <p:cNvSpPr txBox="1"/>
          <p:nvPr/>
        </p:nvSpPr>
        <p:spPr>
          <a:xfrm>
            <a:off x="0" y="6488668"/>
            <a:ext cx="977265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Bahnschrift SemiBold" panose="020B0502040204020203" pitchFamily="34" charset="0"/>
              </a:rPr>
              <a:t>Image Processing: Dr. Nguyen Ngoc Truong Minh, @2024-2025 International University</a:t>
            </a:r>
            <a:endParaRPr lang="vi-VN" b="1" dirty="0">
              <a:solidFill>
                <a:srgbClr val="00206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7230F9A-B7E8-4581-ACD2-9B69D1AE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325" y="6393418"/>
            <a:ext cx="733425" cy="369332"/>
          </a:xfrm>
        </p:spPr>
        <p:txBody>
          <a:bodyPr/>
          <a:lstStyle/>
          <a:p>
            <a:pPr algn="ctr"/>
            <a:fld id="{65B0476F-0237-4A28-B412-F4FE7420337F}" type="slidenum">
              <a:rPr lang="vi-VN" sz="1800" b="1" smtClean="0">
                <a:solidFill>
                  <a:srgbClr val="7030A0"/>
                </a:solidFill>
                <a:latin typeface="Bahnschrift SemiLight" panose="020B0502040204020203" pitchFamily="34" charset="0"/>
              </a:rPr>
              <a:pPr algn="ctr"/>
              <a:t>12</a:t>
            </a:fld>
            <a:endParaRPr lang="vi-VN" sz="1800" b="1">
              <a:solidFill>
                <a:srgbClr val="7030A0"/>
              </a:solidFill>
              <a:latin typeface="Bahnschrift SemiLight" panose="020B0502040204020203" pitchFamily="34" charset="0"/>
            </a:endParaRPr>
          </a:p>
        </p:txBody>
      </p:sp>
      <p:pic>
        <p:nvPicPr>
          <p:cNvPr id="9" name="Picture 2" descr="International University - Download logo">
            <a:extLst>
              <a:ext uri="{FF2B5EF4-FFF2-40B4-BE49-F238E27FC236}">
                <a16:creationId xmlns:a16="http://schemas.microsoft.com/office/drawing/2014/main" id="{F95FD020-AFB8-4E32-BCCE-C3A4478658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7928" y="53165"/>
            <a:ext cx="360907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F2AC1BF-11A7-4DD1-B470-2ACC80B1D202}"/>
              </a:ext>
            </a:extLst>
          </p:cNvPr>
          <p:cNvPicPr>
            <a:picLocks/>
          </p:cNvPicPr>
          <p:nvPr/>
        </p:nvPicPr>
        <p:blipFill rotWithShape="1">
          <a:blip r:embed="rId4"/>
          <a:srcRect r="51842" b="3327"/>
          <a:stretch/>
        </p:blipFill>
        <p:spPr>
          <a:xfrm>
            <a:off x="108860" y="530158"/>
            <a:ext cx="50292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936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EA0DF6-E1D3-4E48-B5A0-7981BBEC9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6021"/>
            <a:ext cx="12192000" cy="63859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56CABD-2EE0-4AFD-B135-2EEE13D31266}"/>
              </a:ext>
            </a:extLst>
          </p:cNvPr>
          <p:cNvSpPr txBox="1"/>
          <p:nvPr/>
        </p:nvSpPr>
        <p:spPr>
          <a:xfrm>
            <a:off x="0" y="0"/>
            <a:ext cx="5133975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Lecture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11</a:t>
            </a:r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 –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Key-point Detection</a:t>
            </a:r>
            <a:endParaRPr lang="vi-VN" sz="2000" b="1" dirty="0">
              <a:solidFill>
                <a:schemeClr val="accent6">
                  <a:lumMod val="50000"/>
                </a:schemeClr>
              </a:solidFill>
              <a:latin typeface="Bahnschrift Light Semi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2BCB13-6B1C-4DEB-A1F3-B422854E548F}"/>
              </a:ext>
            </a:extLst>
          </p:cNvPr>
          <p:cNvSpPr txBox="1"/>
          <p:nvPr/>
        </p:nvSpPr>
        <p:spPr>
          <a:xfrm>
            <a:off x="0" y="6488668"/>
            <a:ext cx="977265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Bahnschrift SemiBold" panose="020B0502040204020203" pitchFamily="34" charset="0"/>
              </a:rPr>
              <a:t>Image Processing: Dr. Nguyen Ngoc Truong Minh, @2024-2025 International University</a:t>
            </a:r>
            <a:endParaRPr lang="vi-VN" b="1" dirty="0">
              <a:solidFill>
                <a:srgbClr val="00206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7230F9A-B7E8-4581-ACD2-9B69D1AE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325" y="6393418"/>
            <a:ext cx="733425" cy="369332"/>
          </a:xfrm>
        </p:spPr>
        <p:txBody>
          <a:bodyPr/>
          <a:lstStyle/>
          <a:p>
            <a:pPr algn="ctr"/>
            <a:fld id="{65B0476F-0237-4A28-B412-F4FE7420337F}" type="slidenum">
              <a:rPr lang="vi-VN" sz="1800" b="1" smtClean="0">
                <a:solidFill>
                  <a:srgbClr val="7030A0"/>
                </a:solidFill>
                <a:latin typeface="Bahnschrift SemiLight" panose="020B0502040204020203" pitchFamily="34" charset="0"/>
              </a:rPr>
              <a:pPr algn="ctr"/>
              <a:t>13</a:t>
            </a:fld>
            <a:endParaRPr lang="vi-VN" sz="1800" b="1">
              <a:solidFill>
                <a:srgbClr val="7030A0"/>
              </a:solidFill>
              <a:latin typeface="Bahnschrift SemiLight" panose="020B0502040204020203" pitchFamily="34" charset="0"/>
            </a:endParaRPr>
          </a:p>
        </p:txBody>
      </p:sp>
      <p:pic>
        <p:nvPicPr>
          <p:cNvPr id="9" name="Picture 2" descr="International University - Download logo">
            <a:extLst>
              <a:ext uri="{FF2B5EF4-FFF2-40B4-BE49-F238E27FC236}">
                <a16:creationId xmlns:a16="http://schemas.microsoft.com/office/drawing/2014/main" id="{8C661924-EF7E-46EF-81FF-569A3322EB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7928" y="53165"/>
            <a:ext cx="360907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D7A8EF-80B6-482A-9AF2-C3C2D119DD2E}"/>
              </a:ext>
            </a:extLst>
          </p:cNvPr>
          <p:cNvPicPr>
            <a:picLocks/>
          </p:cNvPicPr>
          <p:nvPr/>
        </p:nvPicPr>
        <p:blipFill rotWithShape="1">
          <a:blip r:embed="rId4"/>
          <a:srcRect r="51842" b="3327"/>
          <a:stretch/>
        </p:blipFill>
        <p:spPr>
          <a:xfrm>
            <a:off x="108860" y="530158"/>
            <a:ext cx="50292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194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7070EE-E928-4931-9121-484E72F4F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3081"/>
            <a:ext cx="12192000" cy="63718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56CABD-2EE0-4AFD-B135-2EEE13D31266}"/>
              </a:ext>
            </a:extLst>
          </p:cNvPr>
          <p:cNvSpPr txBox="1"/>
          <p:nvPr/>
        </p:nvSpPr>
        <p:spPr>
          <a:xfrm>
            <a:off x="0" y="0"/>
            <a:ext cx="5133975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Lecture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11</a:t>
            </a:r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 –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Key-point Detection</a:t>
            </a:r>
            <a:endParaRPr lang="vi-VN" sz="2000" b="1" dirty="0">
              <a:solidFill>
                <a:schemeClr val="accent6">
                  <a:lumMod val="50000"/>
                </a:schemeClr>
              </a:solidFill>
              <a:latin typeface="Bahnschrift Light Semi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2BCB13-6B1C-4DEB-A1F3-B422854E548F}"/>
              </a:ext>
            </a:extLst>
          </p:cNvPr>
          <p:cNvSpPr txBox="1"/>
          <p:nvPr/>
        </p:nvSpPr>
        <p:spPr>
          <a:xfrm>
            <a:off x="0" y="6488668"/>
            <a:ext cx="977265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Bahnschrift SemiBold" panose="020B0502040204020203" pitchFamily="34" charset="0"/>
              </a:rPr>
              <a:t>Image Processing: Dr. Nguyen Ngoc Truong Minh, @2024-2025 International University</a:t>
            </a:r>
            <a:endParaRPr lang="vi-VN" b="1" dirty="0">
              <a:solidFill>
                <a:srgbClr val="00206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7230F9A-B7E8-4581-ACD2-9B69D1AE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325" y="6393418"/>
            <a:ext cx="733425" cy="369332"/>
          </a:xfrm>
        </p:spPr>
        <p:txBody>
          <a:bodyPr/>
          <a:lstStyle/>
          <a:p>
            <a:pPr algn="ctr"/>
            <a:fld id="{65B0476F-0237-4A28-B412-F4FE7420337F}" type="slidenum">
              <a:rPr lang="vi-VN" sz="1800" b="1" smtClean="0">
                <a:solidFill>
                  <a:srgbClr val="7030A0"/>
                </a:solidFill>
                <a:latin typeface="Bahnschrift SemiLight" panose="020B0502040204020203" pitchFamily="34" charset="0"/>
              </a:rPr>
              <a:pPr algn="ctr"/>
              <a:t>14</a:t>
            </a:fld>
            <a:endParaRPr lang="vi-VN" sz="1800" b="1">
              <a:solidFill>
                <a:srgbClr val="7030A0"/>
              </a:solidFill>
              <a:latin typeface="Bahnschrift SemiLight" panose="020B0502040204020203" pitchFamily="34" charset="0"/>
            </a:endParaRPr>
          </a:p>
        </p:txBody>
      </p:sp>
      <p:pic>
        <p:nvPicPr>
          <p:cNvPr id="9" name="Picture 2" descr="International University - Download logo">
            <a:extLst>
              <a:ext uri="{FF2B5EF4-FFF2-40B4-BE49-F238E27FC236}">
                <a16:creationId xmlns:a16="http://schemas.microsoft.com/office/drawing/2014/main" id="{20842182-A685-4D43-B1F1-239DEB8BD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7928" y="53165"/>
            <a:ext cx="360907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A1BDFC6-1A38-4C39-96E8-152E85DD1C9E}"/>
              </a:ext>
            </a:extLst>
          </p:cNvPr>
          <p:cNvPicPr>
            <a:picLocks/>
          </p:cNvPicPr>
          <p:nvPr/>
        </p:nvPicPr>
        <p:blipFill rotWithShape="1">
          <a:blip r:embed="rId4"/>
          <a:srcRect r="51842" b="3327"/>
          <a:stretch/>
        </p:blipFill>
        <p:spPr>
          <a:xfrm>
            <a:off x="108860" y="530158"/>
            <a:ext cx="50292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543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CD0B45-8958-479E-AB79-A3D38D48E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9118"/>
            <a:ext cx="12192000" cy="63997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56CABD-2EE0-4AFD-B135-2EEE13D31266}"/>
              </a:ext>
            </a:extLst>
          </p:cNvPr>
          <p:cNvSpPr txBox="1"/>
          <p:nvPr/>
        </p:nvSpPr>
        <p:spPr>
          <a:xfrm>
            <a:off x="0" y="0"/>
            <a:ext cx="5133975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Lecture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11</a:t>
            </a:r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 –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Key-point Detection</a:t>
            </a:r>
            <a:endParaRPr lang="vi-VN" sz="2000" b="1" dirty="0">
              <a:solidFill>
                <a:schemeClr val="accent6">
                  <a:lumMod val="50000"/>
                </a:schemeClr>
              </a:solidFill>
              <a:latin typeface="Bahnschrift Light Semi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2BCB13-6B1C-4DEB-A1F3-B422854E548F}"/>
              </a:ext>
            </a:extLst>
          </p:cNvPr>
          <p:cNvSpPr txBox="1"/>
          <p:nvPr/>
        </p:nvSpPr>
        <p:spPr>
          <a:xfrm>
            <a:off x="0" y="6488668"/>
            <a:ext cx="977265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Bahnschrift SemiBold" panose="020B0502040204020203" pitchFamily="34" charset="0"/>
              </a:rPr>
              <a:t>Image Processing: Dr. Nguyen Ngoc Truong Minh, @2024-2025 International University</a:t>
            </a:r>
            <a:endParaRPr lang="vi-VN" b="1" dirty="0">
              <a:solidFill>
                <a:srgbClr val="00206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7230F9A-B7E8-4581-ACD2-9B69D1AE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325" y="6393418"/>
            <a:ext cx="733425" cy="369332"/>
          </a:xfrm>
        </p:spPr>
        <p:txBody>
          <a:bodyPr/>
          <a:lstStyle/>
          <a:p>
            <a:pPr algn="ctr"/>
            <a:fld id="{65B0476F-0237-4A28-B412-F4FE7420337F}" type="slidenum">
              <a:rPr lang="vi-VN" sz="1800" b="1" smtClean="0">
                <a:solidFill>
                  <a:srgbClr val="7030A0"/>
                </a:solidFill>
                <a:latin typeface="Bahnschrift SemiLight" panose="020B0502040204020203" pitchFamily="34" charset="0"/>
              </a:rPr>
              <a:pPr algn="ctr"/>
              <a:t>15</a:t>
            </a:fld>
            <a:endParaRPr lang="vi-VN" sz="1800" b="1">
              <a:solidFill>
                <a:srgbClr val="7030A0"/>
              </a:solidFill>
              <a:latin typeface="Bahnschrift SemiLight" panose="020B0502040204020203" pitchFamily="34" charset="0"/>
            </a:endParaRPr>
          </a:p>
        </p:txBody>
      </p:sp>
      <p:pic>
        <p:nvPicPr>
          <p:cNvPr id="9" name="Picture 2" descr="International University - Download logo">
            <a:extLst>
              <a:ext uri="{FF2B5EF4-FFF2-40B4-BE49-F238E27FC236}">
                <a16:creationId xmlns:a16="http://schemas.microsoft.com/office/drawing/2014/main" id="{13651669-3DC4-4144-886D-CD88A2790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7928" y="53165"/>
            <a:ext cx="360907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664A379-D024-4CE4-BE04-54FA94FC86FB}"/>
              </a:ext>
            </a:extLst>
          </p:cNvPr>
          <p:cNvPicPr>
            <a:picLocks/>
          </p:cNvPicPr>
          <p:nvPr/>
        </p:nvPicPr>
        <p:blipFill rotWithShape="1">
          <a:blip r:embed="rId4"/>
          <a:srcRect r="51842" b="3327"/>
          <a:stretch/>
        </p:blipFill>
        <p:spPr>
          <a:xfrm>
            <a:off x="108860" y="530158"/>
            <a:ext cx="50292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9307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28D5AD-F97D-49E4-AB26-C86BECBFC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2737"/>
            <a:ext cx="12192000" cy="63925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56CABD-2EE0-4AFD-B135-2EEE13D31266}"/>
              </a:ext>
            </a:extLst>
          </p:cNvPr>
          <p:cNvSpPr txBox="1"/>
          <p:nvPr/>
        </p:nvSpPr>
        <p:spPr>
          <a:xfrm>
            <a:off x="0" y="0"/>
            <a:ext cx="5133975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Lecture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11</a:t>
            </a:r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 –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Key-point Detection</a:t>
            </a:r>
            <a:endParaRPr lang="vi-VN" sz="2000" b="1" dirty="0">
              <a:solidFill>
                <a:schemeClr val="accent6">
                  <a:lumMod val="50000"/>
                </a:schemeClr>
              </a:solidFill>
              <a:latin typeface="Bahnschrift Light Semi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2BCB13-6B1C-4DEB-A1F3-B422854E548F}"/>
              </a:ext>
            </a:extLst>
          </p:cNvPr>
          <p:cNvSpPr txBox="1"/>
          <p:nvPr/>
        </p:nvSpPr>
        <p:spPr>
          <a:xfrm>
            <a:off x="0" y="6488668"/>
            <a:ext cx="977265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Bahnschrift SemiBold" panose="020B0502040204020203" pitchFamily="34" charset="0"/>
              </a:rPr>
              <a:t>Image Processing: Dr. Nguyen Ngoc Truong Minh, @2024-2025 International University</a:t>
            </a:r>
            <a:endParaRPr lang="vi-VN" b="1" dirty="0">
              <a:solidFill>
                <a:srgbClr val="00206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7230F9A-B7E8-4581-ACD2-9B69D1AE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325" y="6393418"/>
            <a:ext cx="733425" cy="369332"/>
          </a:xfrm>
        </p:spPr>
        <p:txBody>
          <a:bodyPr/>
          <a:lstStyle/>
          <a:p>
            <a:pPr algn="ctr"/>
            <a:fld id="{65B0476F-0237-4A28-B412-F4FE7420337F}" type="slidenum">
              <a:rPr lang="vi-VN" sz="1800" b="1" smtClean="0">
                <a:solidFill>
                  <a:srgbClr val="7030A0"/>
                </a:solidFill>
                <a:latin typeface="Bahnschrift SemiLight" panose="020B0502040204020203" pitchFamily="34" charset="0"/>
              </a:rPr>
              <a:pPr algn="ctr"/>
              <a:t>16</a:t>
            </a:fld>
            <a:endParaRPr lang="vi-VN" sz="1800" b="1">
              <a:solidFill>
                <a:srgbClr val="7030A0"/>
              </a:solidFill>
              <a:latin typeface="Bahnschrift SemiLight" panose="020B0502040204020203" pitchFamily="34" charset="0"/>
            </a:endParaRPr>
          </a:p>
        </p:txBody>
      </p:sp>
      <p:pic>
        <p:nvPicPr>
          <p:cNvPr id="9" name="Picture 2" descr="International University - Download logo">
            <a:extLst>
              <a:ext uri="{FF2B5EF4-FFF2-40B4-BE49-F238E27FC236}">
                <a16:creationId xmlns:a16="http://schemas.microsoft.com/office/drawing/2014/main" id="{09803843-A1AF-459F-B8DB-08A7C4FFBE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7928" y="53165"/>
            <a:ext cx="360907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0900441-986A-4328-AE63-1A6B76418A5B}"/>
              </a:ext>
            </a:extLst>
          </p:cNvPr>
          <p:cNvPicPr>
            <a:picLocks/>
          </p:cNvPicPr>
          <p:nvPr/>
        </p:nvPicPr>
        <p:blipFill rotWithShape="1">
          <a:blip r:embed="rId4"/>
          <a:srcRect r="51842" b="3327"/>
          <a:stretch/>
        </p:blipFill>
        <p:spPr>
          <a:xfrm>
            <a:off x="108860" y="530158"/>
            <a:ext cx="50292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7195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1FCDB9-4D61-4A3A-91DF-AB9673253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7305"/>
            <a:ext cx="12192000" cy="64033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56CABD-2EE0-4AFD-B135-2EEE13D31266}"/>
              </a:ext>
            </a:extLst>
          </p:cNvPr>
          <p:cNvSpPr txBox="1"/>
          <p:nvPr/>
        </p:nvSpPr>
        <p:spPr>
          <a:xfrm>
            <a:off x="0" y="0"/>
            <a:ext cx="5133975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Lecture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11</a:t>
            </a:r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 –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Key-point Detection</a:t>
            </a:r>
            <a:endParaRPr lang="vi-VN" sz="2000" b="1" dirty="0">
              <a:solidFill>
                <a:schemeClr val="accent6">
                  <a:lumMod val="50000"/>
                </a:schemeClr>
              </a:solidFill>
              <a:latin typeface="Bahnschrift Light Semi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2BCB13-6B1C-4DEB-A1F3-B422854E548F}"/>
              </a:ext>
            </a:extLst>
          </p:cNvPr>
          <p:cNvSpPr txBox="1"/>
          <p:nvPr/>
        </p:nvSpPr>
        <p:spPr>
          <a:xfrm>
            <a:off x="0" y="6488668"/>
            <a:ext cx="977265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Bahnschrift SemiBold" panose="020B0502040204020203" pitchFamily="34" charset="0"/>
              </a:rPr>
              <a:t>Image Processing: Dr. Nguyen Ngoc Truong Minh, @2024-2025 International University</a:t>
            </a:r>
            <a:endParaRPr lang="vi-VN" b="1" dirty="0">
              <a:solidFill>
                <a:srgbClr val="00206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7230F9A-B7E8-4581-ACD2-9B69D1AE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325" y="6393418"/>
            <a:ext cx="733425" cy="369332"/>
          </a:xfrm>
        </p:spPr>
        <p:txBody>
          <a:bodyPr/>
          <a:lstStyle/>
          <a:p>
            <a:pPr algn="ctr"/>
            <a:fld id="{65B0476F-0237-4A28-B412-F4FE7420337F}" type="slidenum">
              <a:rPr lang="vi-VN" sz="1800" b="1" smtClean="0">
                <a:solidFill>
                  <a:srgbClr val="7030A0"/>
                </a:solidFill>
                <a:latin typeface="Bahnschrift SemiLight" panose="020B0502040204020203" pitchFamily="34" charset="0"/>
              </a:rPr>
              <a:pPr algn="ctr"/>
              <a:t>17</a:t>
            </a:fld>
            <a:endParaRPr lang="vi-VN" sz="1800" b="1">
              <a:solidFill>
                <a:srgbClr val="7030A0"/>
              </a:solidFill>
              <a:latin typeface="Bahnschrift SemiLight" panose="020B0502040204020203" pitchFamily="34" charset="0"/>
            </a:endParaRPr>
          </a:p>
        </p:txBody>
      </p:sp>
      <p:pic>
        <p:nvPicPr>
          <p:cNvPr id="9" name="Picture 2" descr="International University - Download logo">
            <a:extLst>
              <a:ext uri="{FF2B5EF4-FFF2-40B4-BE49-F238E27FC236}">
                <a16:creationId xmlns:a16="http://schemas.microsoft.com/office/drawing/2014/main" id="{94F00EEC-1FA2-494B-891E-E08A46E670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7928" y="53165"/>
            <a:ext cx="360907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7F2683-6C84-4E01-A88C-38250B5ED2FD}"/>
              </a:ext>
            </a:extLst>
          </p:cNvPr>
          <p:cNvPicPr>
            <a:picLocks/>
          </p:cNvPicPr>
          <p:nvPr/>
        </p:nvPicPr>
        <p:blipFill rotWithShape="1">
          <a:blip r:embed="rId4"/>
          <a:srcRect r="51842" b="3327"/>
          <a:stretch/>
        </p:blipFill>
        <p:spPr>
          <a:xfrm>
            <a:off x="108860" y="530158"/>
            <a:ext cx="50292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8621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B3AA52-BDAE-4254-8EAD-D946FDCFD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7828"/>
            <a:ext cx="12192000" cy="63823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56CABD-2EE0-4AFD-B135-2EEE13D31266}"/>
              </a:ext>
            </a:extLst>
          </p:cNvPr>
          <p:cNvSpPr txBox="1"/>
          <p:nvPr/>
        </p:nvSpPr>
        <p:spPr>
          <a:xfrm>
            <a:off x="0" y="0"/>
            <a:ext cx="5133975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Lecture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11</a:t>
            </a:r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 –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Key-point Detection</a:t>
            </a:r>
            <a:endParaRPr lang="vi-VN" sz="2000" b="1" dirty="0">
              <a:solidFill>
                <a:schemeClr val="accent6">
                  <a:lumMod val="50000"/>
                </a:schemeClr>
              </a:solidFill>
              <a:latin typeface="Bahnschrift Light Semi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2BCB13-6B1C-4DEB-A1F3-B422854E548F}"/>
              </a:ext>
            </a:extLst>
          </p:cNvPr>
          <p:cNvSpPr txBox="1"/>
          <p:nvPr/>
        </p:nvSpPr>
        <p:spPr>
          <a:xfrm>
            <a:off x="0" y="6488668"/>
            <a:ext cx="977265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Bahnschrift SemiBold" panose="020B0502040204020203" pitchFamily="34" charset="0"/>
              </a:rPr>
              <a:t>Image Processing: Dr. Nguyen Ngoc Truong Minh, @2024-2025 International University</a:t>
            </a:r>
            <a:endParaRPr lang="vi-VN" b="1" dirty="0">
              <a:solidFill>
                <a:srgbClr val="00206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7230F9A-B7E8-4581-ACD2-9B69D1AE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325" y="6393418"/>
            <a:ext cx="733425" cy="369332"/>
          </a:xfrm>
        </p:spPr>
        <p:txBody>
          <a:bodyPr/>
          <a:lstStyle/>
          <a:p>
            <a:pPr algn="ctr"/>
            <a:fld id="{65B0476F-0237-4A28-B412-F4FE7420337F}" type="slidenum">
              <a:rPr lang="vi-VN" sz="1800" b="1" smtClean="0">
                <a:solidFill>
                  <a:srgbClr val="7030A0"/>
                </a:solidFill>
                <a:latin typeface="Bahnschrift SemiLight" panose="020B0502040204020203" pitchFamily="34" charset="0"/>
              </a:rPr>
              <a:pPr algn="ctr"/>
              <a:t>18</a:t>
            </a:fld>
            <a:endParaRPr lang="vi-VN" sz="1800" b="1">
              <a:solidFill>
                <a:srgbClr val="7030A0"/>
              </a:solidFill>
              <a:latin typeface="Bahnschrift SemiLight" panose="020B0502040204020203" pitchFamily="34" charset="0"/>
            </a:endParaRPr>
          </a:p>
        </p:txBody>
      </p:sp>
      <p:pic>
        <p:nvPicPr>
          <p:cNvPr id="9" name="Picture 2" descr="International University - Download logo">
            <a:extLst>
              <a:ext uri="{FF2B5EF4-FFF2-40B4-BE49-F238E27FC236}">
                <a16:creationId xmlns:a16="http://schemas.microsoft.com/office/drawing/2014/main" id="{292F454E-A793-437B-B0EE-8E9AECB35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7928" y="53165"/>
            <a:ext cx="360907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31CC4E-E41A-4BE1-86CB-BE2AF029C61A}"/>
              </a:ext>
            </a:extLst>
          </p:cNvPr>
          <p:cNvPicPr>
            <a:picLocks/>
          </p:cNvPicPr>
          <p:nvPr/>
        </p:nvPicPr>
        <p:blipFill rotWithShape="1">
          <a:blip r:embed="rId4"/>
          <a:srcRect r="51842" b="3327"/>
          <a:stretch/>
        </p:blipFill>
        <p:spPr>
          <a:xfrm>
            <a:off x="108860" y="530158"/>
            <a:ext cx="50292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7263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47E6BA-B93E-46FF-9123-68539F346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5490"/>
            <a:ext cx="12192000" cy="64070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56CABD-2EE0-4AFD-B135-2EEE13D31266}"/>
              </a:ext>
            </a:extLst>
          </p:cNvPr>
          <p:cNvSpPr txBox="1"/>
          <p:nvPr/>
        </p:nvSpPr>
        <p:spPr>
          <a:xfrm>
            <a:off x="0" y="0"/>
            <a:ext cx="5133975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Lecture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11</a:t>
            </a:r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 –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Key-point Detection</a:t>
            </a:r>
            <a:endParaRPr lang="vi-VN" sz="2000" b="1" dirty="0">
              <a:solidFill>
                <a:schemeClr val="accent6">
                  <a:lumMod val="50000"/>
                </a:schemeClr>
              </a:solidFill>
              <a:latin typeface="Bahnschrift Light Semi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2BCB13-6B1C-4DEB-A1F3-B422854E548F}"/>
              </a:ext>
            </a:extLst>
          </p:cNvPr>
          <p:cNvSpPr txBox="1"/>
          <p:nvPr/>
        </p:nvSpPr>
        <p:spPr>
          <a:xfrm>
            <a:off x="0" y="6488668"/>
            <a:ext cx="977265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Bahnschrift SemiBold" panose="020B0502040204020203" pitchFamily="34" charset="0"/>
              </a:rPr>
              <a:t>Image Processing: Dr. Nguyen Ngoc Truong Minh, @2024-2025 International University</a:t>
            </a:r>
            <a:endParaRPr lang="vi-VN" b="1" dirty="0">
              <a:solidFill>
                <a:srgbClr val="00206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7230F9A-B7E8-4581-ACD2-9B69D1AE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325" y="6393418"/>
            <a:ext cx="733425" cy="369332"/>
          </a:xfrm>
        </p:spPr>
        <p:txBody>
          <a:bodyPr/>
          <a:lstStyle/>
          <a:p>
            <a:pPr algn="ctr"/>
            <a:fld id="{65B0476F-0237-4A28-B412-F4FE7420337F}" type="slidenum">
              <a:rPr lang="vi-VN" sz="1800" b="1" smtClean="0">
                <a:solidFill>
                  <a:srgbClr val="7030A0"/>
                </a:solidFill>
                <a:latin typeface="Bahnschrift SemiLight" panose="020B0502040204020203" pitchFamily="34" charset="0"/>
              </a:rPr>
              <a:pPr algn="ctr"/>
              <a:t>19</a:t>
            </a:fld>
            <a:endParaRPr lang="vi-VN" sz="1800" b="1">
              <a:solidFill>
                <a:srgbClr val="7030A0"/>
              </a:solidFill>
              <a:latin typeface="Bahnschrift SemiLight" panose="020B0502040204020203" pitchFamily="34" charset="0"/>
            </a:endParaRPr>
          </a:p>
        </p:txBody>
      </p:sp>
      <p:pic>
        <p:nvPicPr>
          <p:cNvPr id="9" name="Picture 2" descr="International University - Download logo">
            <a:extLst>
              <a:ext uri="{FF2B5EF4-FFF2-40B4-BE49-F238E27FC236}">
                <a16:creationId xmlns:a16="http://schemas.microsoft.com/office/drawing/2014/main" id="{01AE3CEE-11A2-46D0-BEFC-B5EB601BA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7928" y="53165"/>
            <a:ext cx="360907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75F25D-D67E-450F-A9BC-37977A76B73A}"/>
              </a:ext>
            </a:extLst>
          </p:cNvPr>
          <p:cNvPicPr>
            <a:picLocks/>
          </p:cNvPicPr>
          <p:nvPr/>
        </p:nvPicPr>
        <p:blipFill rotWithShape="1">
          <a:blip r:embed="rId4"/>
          <a:srcRect r="51842" b="3327"/>
          <a:stretch/>
        </p:blipFill>
        <p:spPr>
          <a:xfrm>
            <a:off x="108860" y="530158"/>
            <a:ext cx="50292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2275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C9410B-CA0F-49E1-81B1-D69F6AB8A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4544"/>
            <a:ext cx="12192000" cy="63889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56CABD-2EE0-4AFD-B135-2EEE13D31266}"/>
              </a:ext>
            </a:extLst>
          </p:cNvPr>
          <p:cNvSpPr txBox="1"/>
          <p:nvPr/>
        </p:nvSpPr>
        <p:spPr>
          <a:xfrm>
            <a:off x="0" y="0"/>
            <a:ext cx="5133975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Lecture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11</a:t>
            </a:r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 –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Key-point Detection</a:t>
            </a:r>
            <a:endParaRPr lang="vi-VN" sz="2000" b="1" dirty="0">
              <a:solidFill>
                <a:schemeClr val="accent6">
                  <a:lumMod val="50000"/>
                </a:schemeClr>
              </a:solidFill>
              <a:latin typeface="Bahnschrift Light Semi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2BCB13-6B1C-4DEB-A1F3-B422854E548F}"/>
              </a:ext>
            </a:extLst>
          </p:cNvPr>
          <p:cNvSpPr txBox="1"/>
          <p:nvPr/>
        </p:nvSpPr>
        <p:spPr>
          <a:xfrm>
            <a:off x="0" y="6488668"/>
            <a:ext cx="977265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Bahnschrift SemiBold" panose="020B0502040204020203" pitchFamily="34" charset="0"/>
              </a:rPr>
              <a:t>Image Processing: Dr. Nguyen Ngoc Truong Minh, @2024-2025 International University</a:t>
            </a:r>
            <a:endParaRPr lang="vi-VN" b="1" dirty="0">
              <a:solidFill>
                <a:srgbClr val="00206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7230F9A-B7E8-4581-ACD2-9B69D1AE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325" y="6393418"/>
            <a:ext cx="733425" cy="369332"/>
          </a:xfrm>
        </p:spPr>
        <p:txBody>
          <a:bodyPr/>
          <a:lstStyle/>
          <a:p>
            <a:pPr algn="ctr"/>
            <a:fld id="{65B0476F-0237-4A28-B412-F4FE7420337F}" type="slidenum">
              <a:rPr lang="vi-VN" sz="1800" b="1" smtClean="0">
                <a:solidFill>
                  <a:srgbClr val="7030A0"/>
                </a:solidFill>
                <a:latin typeface="Bahnschrift SemiLight" panose="020B0502040204020203" pitchFamily="34" charset="0"/>
              </a:rPr>
              <a:pPr algn="ctr"/>
              <a:t>20</a:t>
            </a:fld>
            <a:endParaRPr lang="vi-VN" sz="1800" b="1">
              <a:solidFill>
                <a:srgbClr val="7030A0"/>
              </a:solidFill>
              <a:latin typeface="Bahnschrift SemiLight" panose="020B0502040204020203" pitchFamily="34" charset="0"/>
            </a:endParaRPr>
          </a:p>
        </p:txBody>
      </p:sp>
      <p:pic>
        <p:nvPicPr>
          <p:cNvPr id="9" name="Picture 2" descr="International University - Download logo">
            <a:extLst>
              <a:ext uri="{FF2B5EF4-FFF2-40B4-BE49-F238E27FC236}">
                <a16:creationId xmlns:a16="http://schemas.microsoft.com/office/drawing/2014/main" id="{8BA7ABAF-BCE9-4BBE-8F56-18E97DDB3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7928" y="53165"/>
            <a:ext cx="360907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8B2860E-B096-4D10-AC5D-BCBCE2BDF404}"/>
              </a:ext>
            </a:extLst>
          </p:cNvPr>
          <p:cNvPicPr>
            <a:picLocks/>
          </p:cNvPicPr>
          <p:nvPr/>
        </p:nvPicPr>
        <p:blipFill rotWithShape="1">
          <a:blip r:embed="rId4"/>
          <a:srcRect r="51842" b="3327"/>
          <a:stretch/>
        </p:blipFill>
        <p:spPr>
          <a:xfrm>
            <a:off x="108860" y="530158"/>
            <a:ext cx="50292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2741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FA9968-C078-4143-B8AC-B8F0FDD26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945"/>
            <a:ext cx="12192000" cy="64001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56CABD-2EE0-4AFD-B135-2EEE13D31266}"/>
              </a:ext>
            </a:extLst>
          </p:cNvPr>
          <p:cNvSpPr txBox="1"/>
          <p:nvPr/>
        </p:nvSpPr>
        <p:spPr>
          <a:xfrm>
            <a:off x="0" y="0"/>
            <a:ext cx="5133975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Lecture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11</a:t>
            </a:r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 –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Key-point Detection</a:t>
            </a:r>
            <a:endParaRPr lang="vi-VN" sz="2000" b="1" dirty="0">
              <a:solidFill>
                <a:schemeClr val="accent6">
                  <a:lumMod val="50000"/>
                </a:schemeClr>
              </a:solidFill>
              <a:latin typeface="Bahnschrift Light Semi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2BCB13-6B1C-4DEB-A1F3-B422854E548F}"/>
              </a:ext>
            </a:extLst>
          </p:cNvPr>
          <p:cNvSpPr txBox="1"/>
          <p:nvPr/>
        </p:nvSpPr>
        <p:spPr>
          <a:xfrm>
            <a:off x="0" y="6488668"/>
            <a:ext cx="977265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Bahnschrift SemiBold" panose="020B0502040204020203" pitchFamily="34" charset="0"/>
              </a:rPr>
              <a:t>Image Processing: Dr. Nguyen Ngoc Truong Minh, @2024-2025 International University</a:t>
            </a:r>
            <a:endParaRPr lang="vi-VN" b="1" dirty="0">
              <a:solidFill>
                <a:srgbClr val="00206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7230F9A-B7E8-4581-ACD2-9B69D1AE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325" y="6393418"/>
            <a:ext cx="733425" cy="369332"/>
          </a:xfrm>
        </p:spPr>
        <p:txBody>
          <a:bodyPr/>
          <a:lstStyle/>
          <a:p>
            <a:pPr algn="ctr"/>
            <a:fld id="{65B0476F-0237-4A28-B412-F4FE7420337F}" type="slidenum">
              <a:rPr lang="vi-VN" sz="1800" b="1" smtClean="0">
                <a:solidFill>
                  <a:srgbClr val="7030A0"/>
                </a:solidFill>
                <a:latin typeface="Bahnschrift SemiLight" panose="020B0502040204020203" pitchFamily="34" charset="0"/>
              </a:rPr>
              <a:pPr algn="ctr"/>
              <a:t>21</a:t>
            </a:fld>
            <a:endParaRPr lang="vi-VN" sz="1800" b="1">
              <a:solidFill>
                <a:srgbClr val="7030A0"/>
              </a:solidFill>
              <a:latin typeface="Bahnschrift SemiLight" panose="020B0502040204020203" pitchFamily="34" charset="0"/>
            </a:endParaRPr>
          </a:p>
        </p:txBody>
      </p:sp>
      <p:pic>
        <p:nvPicPr>
          <p:cNvPr id="9" name="Picture 2" descr="International University - Download logo">
            <a:extLst>
              <a:ext uri="{FF2B5EF4-FFF2-40B4-BE49-F238E27FC236}">
                <a16:creationId xmlns:a16="http://schemas.microsoft.com/office/drawing/2014/main" id="{FB6A2E4F-7AB7-4740-9C7F-12964FCB9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7928" y="53165"/>
            <a:ext cx="360907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C92DBC6-3206-4A7D-9046-608A9654D37E}"/>
              </a:ext>
            </a:extLst>
          </p:cNvPr>
          <p:cNvPicPr>
            <a:picLocks/>
          </p:cNvPicPr>
          <p:nvPr/>
        </p:nvPicPr>
        <p:blipFill rotWithShape="1">
          <a:blip r:embed="rId4"/>
          <a:srcRect r="51842" b="3327"/>
          <a:stretch/>
        </p:blipFill>
        <p:spPr>
          <a:xfrm>
            <a:off x="108860" y="530158"/>
            <a:ext cx="50292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5882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96E961-13C1-49C8-808C-8E1705C9F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224"/>
            <a:ext cx="12192000" cy="63655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56CABD-2EE0-4AFD-B135-2EEE13D31266}"/>
              </a:ext>
            </a:extLst>
          </p:cNvPr>
          <p:cNvSpPr txBox="1"/>
          <p:nvPr/>
        </p:nvSpPr>
        <p:spPr>
          <a:xfrm>
            <a:off x="0" y="0"/>
            <a:ext cx="5133975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Lecture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11</a:t>
            </a:r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 –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Key-point Detection</a:t>
            </a:r>
            <a:endParaRPr lang="vi-VN" sz="2000" b="1" dirty="0">
              <a:solidFill>
                <a:schemeClr val="accent6">
                  <a:lumMod val="50000"/>
                </a:schemeClr>
              </a:solidFill>
              <a:latin typeface="Bahnschrift Light Semi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2BCB13-6B1C-4DEB-A1F3-B422854E548F}"/>
              </a:ext>
            </a:extLst>
          </p:cNvPr>
          <p:cNvSpPr txBox="1"/>
          <p:nvPr/>
        </p:nvSpPr>
        <p:spPr>
          <a:xfrm>
            <a:off x="0" y="6488668"/>
            <a:ext cx="977265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Bahnschrift SemiBold" panose="020B0502040204020203" pitchFamily="34" charset="0"/>
              </a:rPr>
              <a:t>Image Processing: Dr. Nguyen Ngoc Truong Minh, @2024-2025 International University</a:t>
            </a:r>
            <a:endParaRPr lang="vi-VN" b="1" dirty="0">
              <a:solidFill>
                <a:srgbClr val="00206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7230F9A-B7E8-4581-ACD2-9B69D1AE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325" y="6393418"/>
            <a:ext cx="733425" cy="369332"/>
          </a:xfrm>
        </p:spPr>
        <p:txBody>
          <a:bodyPr/>
          <a:lstStyle/>
          <a:p>
            <a:pPr algn="ctr"/>
            <a:fld id="{65B0476F-0237-4A28-B412-F4FE7420337F}" type="slidenum">
              <a:rPr lang="vi-VN" sz="1800" b="1" smtClean="0">
                <a:solidFill>
                  <a:srgbClr val="7030A0"/>
                </a:solidFill>
                <a:latin typeface="Bahnschrift SemiLight" panose="020B0502040204020203" pitchFamily="34" charset="0"/>
              </a:rPr>
              <a:pPr algn="ctr"/>
              <a:t>22</a:t>
            </a:fld>
            <a:endParaRPr lang="vi-VN" sz="1800" b="1">
              <a:solidFill>
                <a:srgbClr val="7030A0"/>
              </a:solidFill>
              <a:latin typeface="Bahnschrift SemiLight" panose="020B0502040204020203" pitchFamily="34" charset="0"/>
            </a:endParaRPr>
          </a:p>
        </p:txBody>
      </p:sp>
      <p:pic>
        <p:nvPicPr>
          <p:cNvPr id="9" name="Picture 2" descr="International University - Download logo">
            <a:extLst>
              <a:ext uri="{FF2B5EF4-FFF2-40B4-BE49-F238E27FC236}">
                <a16:creationId xmlns:a16="http://schemas.microsoft.com/office/drawing/2014/main" id="{276EE123-B367-4F47-8247-7656F0D22D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7928" y="53165"/>
            <a:ext cx="360907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78674F-FDA1-45B5-BC80-6318371CB10A}"/>
              </a:ext>
            </a:extLst>
          </p:cNvPr>
          <p:cNvPicPr>
            <a:picLocks/>
          </p:cNvPicPr>
          <p:nvPr/>
        </p:nvPicPr>
        <p:blipFill rotWithShape="1">
          <a:blip r:embed="rId4"/>
          <a:srcRect r="51842" b="3327"/>
          <a:stretch/>
        </p:blipFill>
        <p:spPr>
          <a:xfrm>
            <a:off x="108860" y="530158"/>
            <a:ext cx="50292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7861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2872B1-AAB8-43A6-9E3A-0F854CD0D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9977"/>
            <a:ext cx="12192000" cy="63580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56CABD-2EE0-4AFD-B135-2EEE13D31266}"/>
              </a:ext>
            </a:extLst>
          </p:cNvPr>
          <p:cNvSpPr txBox="1"/>
          <p:nvPr/>
        </p:nvSpPr>
        <p:spPr>
          <a:xfrm>
            <a:off x="0" y="0"/>
            <a:ext cx="5133975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Lecture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11</a:t>
            </a:r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 –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Key-point Detection</a:t>
            </a:r>
            <a:endParaRPr lang="vi-VN" sz="2000" b="1" dirty="0">
              <a:solidFill>
                <a:schemeClr val="accent6">
                  <a:lumMod val="50000"/>
                </a:schemeClr>
              </a:solidFill>
              <a:latin typeface="Bahnschrift Light Semi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2BCB13-6B1C-4DEB-A1F3-B422854E548F}"/>
              </a:ext>
            </a:extLst>
          </p:cNvPr>
          <p:cNvSpPr txBox="1"/>
          <p:nvPr/>
        </p:nvSpPr>
        <p:spPr>
          <a:xfrm>
            <a:off x="0" y="6488668"/>
            <a:ext cx="977265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Bahnschrift SemiBold" panose="020B0502040204020203" pitchFamily="34" charset="0"/>
              </a:rPr>
              <a:t>Image Processing: Dr. Nguyen Ngoc Truong Minh, @2024-2025 International University</a:t>
            </a:r>
            <a:endParaRPr lang="vi-VN" b="1" dirty="0">
              <a:solidFill>
                <a:srgbClr val="00206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7230F9A-B7E8-4581-ACD2-9B69D1AE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325" y="6393418"/>
            <a:ext cx="733425" cy="369332"/>
          </a:xfrm>
        </p:spPr>
        <p:txBody>
          <a:bodyPr/>
          <a:lstStyle/>
          <a:p>
            <a:pPr algn="ctr"/>
            <a:fld id="{65B0476F-0237-4A28-B412-F4FE7420337F}" type="slidenum">
              <a:rPr lang="vi-VN" sz="1800" b="1" smtClean="0">
                <a:solidFill>
                  <a:srgbClr val="7030A0"/>
                </a:solidFill>
                <a:latin typeface="Bahnschrift SemiLight" panose="020B0502040204020203" pitchFamily="34" charset="0"/>
              </a:rPr>
              <a:pPr algn="ctr"/>
              <a:t>23</a:t>
            </a:fld>
            <a:endParaRPr lang="vi-VN" sz="1800" b="1">
              <a:solidFill>
                <a:srgbClr val="7030A0"/>
              </a:solidFill>
              <a:latin typeface="Bahnschrift SemiLight" panose="020B0502040204020203" pitchFamily="34" charset="0"/>
            </a:endParaRPr>
          </a:p>
        </p:txBody>
      </p:sp>
      <p:pic>
        <p:nvPicPr>
          <p:cNvPr id="9" name="Picture 2" descr="International University - Download logo">
            <a:extLst>
              <a:ext uri="{FF2B5EF4-FFF2-40B4-BE49-F238E27FC236}">
                <a16:creationId xmlns:a16="http://schemas.microsoft.com/office/drawing/2014/main" id="{37AF0099-875A-432F-A6EB-DD3E22BE5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7928" y="53165"/>
            <a:ext cx="360907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D193D1F-6E2E-4894-9AFA-0111CF51BAD6}"/>
              </a:ext>
            </a:extLst>
          </p:cNvPr>
          <p:cNvPicPr>
            <a:picLocks/>
          </p:cNvPicPr>
          <p:nvPr/>
        </p:nvPicPr>
        <p:blipFill rotWithShape="1">
          <a:blip r:embed="rId4"/>
          <a:srcRect r="51842" b="3327"/>
          <a:stretch/>
        </p:blipFill>
        <p:spPr>
          <a:xfrm>
            <a:off x="108860" y="530158"/>
            <a:ext cx="50292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4118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6057F7-5A6C-4237-8FA9-A40014BBF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9313"/>
            <a:ext cx="12192000" cy="63793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56CABD-2EE0-4AFD-B135-2EEE13D31266}"/>
              </a:ext>
            </a:extLst>
          </p:cNvPr>
          <p:cNvSpPr txBox="1"/>
          <p:nvPr/>
        </p:nvSpPr>
        <p:spPr>
          <a:xfrm>
            <a:off x="0" y="0"/>
            <a:ext cx="5133975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Lecture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11</a:t>
            </a:r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 –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Key-point Detection</a:t>
            </a:r>
            <a:endParaRPr lang="vi-VN" sz="2000" b="1" dirty="0">
              <a:solidFill>
                <a:schemeClr val="accent6">
                  <a:lumMod val="50000"/>
                </a:schemeClr>
              </a:solidFill>
              <a:latin typeface="Bahnschrift Light Semi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2BCB13-6B1C-4DEB-A1F3-B422854E548F}"/>
              </a:ext>
            </a:extLst>
          </p:cNvPr>
          <p:cNvSpPr txBox="1"/>
          <p:nvPr/>
        </p:nvSpPr>
        <p:spPr>
          <a:xfrm>
            <a:off x="0" y="6488668"/>
            <a:ext cx="977265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Bahnschrift SemiBold" panose="020B0502040204020203" pitchFamily="34" charset="0"/>
              </a:rPr>
              <a:t>Image Processing: Dr. Nguyen Ngoc Truong Minh, @2024-2025 International University</a:t>
            </a:r>
            <a:endParaRPr lang="vi-VN" b="1" dirty="0">
              <a:solidFill>
                <a:srgbClr val="00206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7230F9A-B7E8-4581-ACD2-9B69D1AE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325" y="6393418"/>
            <a:ext cx="733425" cy="369332"/>
          </a:xfrm>
        </p:spPr>
        <p:txBody>
          <a:bodyPr/>
          <a:lstStyle/>
          <a:p>
            <a:pPr algn="ctr"/>
            <a:fld id="{65B0476F-0237-4A28-B412-F4FE7420337F}" type="slidenum">
              <a:rPr lang="vi-VN" sz="1800" b="1" smtClean="0">
                <a:solidFill>
                  <a:srgbClr val="7030A0"/>
                </a:solidFill>
                <a:latin typeface="Bahnschrift SemiLight" panose="020B0502040204020203" pitchFamily="34" charset="0"/>
              </a:rPr>
              <a:pPr algn="ctr"/>
              <a:t>24</a:t>
            </a:fld>
            <a:endParaRPr lang="vi-VN" sz="1800" b="1">
              <a:solidFill>
                <a:srgbClr val="7030A0"/>
              </a:solidFill>
              <a:latin typeface="Bahnschrift SemiLight" panose="020B0502040204020203" pitchFamily="34" charset="0"/>
            </a:endParaRPr>
          </a:p>
        </p:txBody>
      </p:sp>
      <p:pic>
        <p:nvPicPr>
          <p:cNvPr id="9" name="Picture 2" descr="International University - Download logo">
            <a:extLst>
              <a:ext uri="{FF2B5EF4-FFF2-40B4-BE49-F238E27FC236}">
                <a16:creationId xmlns:a16="http://schemas.microsoft.com/office/drawing/2014/main" id="{067E8A48-6CA0-484F-832E-19A5A2299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7928" y="53165"/>
            <a:ext cx="360907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2E610F4-B808-484D-B817-C1F428F425F6}"/>
              </a:ext>
            </a:extLst>
          </p:cNvPr>
          <p:cNvPicPr>
            <a:picLocks/>
          </p:cNvPicPr>
          <p:nvPr/>
        </p:nvPicPr>
        <p:blipFill rotWithShape="1">
          <a:blip r:embed="rId4"/>
          <a:srcRect r="51842" b="3327"/>
          <a:stretch/>
        </p:blipFill>
        <p:spPr>
          <a:xfrm>
            <a:off x="108860" y="530158"/>
            <a:ext cx="50292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7440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6A5141-AB9F-4455-B21F-62FB3D189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0111"/>
            <a:ext cx="12192000" cy="63777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56CABD-2EE0-4AFD-B135-2EEE13D31266}"/>
              </a:ext>
            </a:extLst>
          </p:cNvPr>
          <p:cNvSpPr txBox="1"/>
          <p:nvPr/>
        </p:nvSpPr>
        <p:spPr>
          <a:xfrm>
            <a:off x="0" y="0"/>
            <a:ext cx="5133975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Lecture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11</a:t>
            </a:r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 –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Key-point Detection</a:t>
            </a:r>
            <a:endParaRPr lang="vi-VN" sz="2000" b="1" dirty="0">
              <a:solidFill>
                <a:schemeClr val="accent6">
                  <a:lumMod val="50000"/>
                </a:schemeClr>
              </a:solidFill>
              <a:latin typeface="Bahnschrift Light Semi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2BCB13-6B1C-4DEB-A1F3-B422854E548F}"/>
              </a:ext>
            </a:extLst>
          </p:cNvPr>
          <p:cNvSpPr txBox="1"/>
          <p:nvPr/>
        </p:nvSpPr>
        <p:spPr>
          <a:xfrm>
            <a:off x="0" y="6488668"/>
            <a:ext cx="977265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Bahnschrift SemiBold" panose="020B0502040204020203" pitchFamily="34" charset="0"/>
              </a:rPr>
              <a:t>Image Processing: Dr. Nguyen Ngoc Truong Minh, @2024-2025 International University</a:t>
            </a:r>
            <a:endParaRPr lang="vi-VN" b="1" dirty="0">
              <a:solidFill>
                <a:srgbClr val="00206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7230F9A-B7E8-4581-ACD2-9B69D1AE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325" y="6393418"/>
            <a:ext cx="733425" cy="369332"/>
          </a:xfrm>
        </p:spPr>
        <p:txBody>
          <a:bodyPr/>
          <a:lstStyle/>
          <a:p>
            <a:pPr algn="ctr"/>
            <a:fld id="{65B0476F-0237-4A28-B412-F4FE7420337F}" type="slidenum">
              <a:rPr lang="vi-VN" sz="1800" b="1" smtClean="0">
                <a:solidFill>
                  <a:srgbClr val="7030A0"/>
                </a:solidFill>
                <a:latin typeface="Bahnschrift SemiLight" panose="020B0502040204020203" pitchFamily="34" charset="0"/>
              </a:rPr>
              <a:pPr algn="ctr"/>
              <a:t>25</a:t>
            </a:fld>
            <a:endParaRPr lang="vi-VN" sz="1800" b="1">
              <a:solidFill>
                <a:srgbClr val="7030A0"/>
              </a:solidFill>
              <a:latin typeface="Bahnschrift SemiLight" panose="020B0502040204020203" pitchFamily="34" charset="0"/>
            </a:endParaRPr>
          </a:p>
        </p:txBody>
      </p:sp>
      <p:pic>
        <p:nvPicPr>
          <p:cNvPr id="9" name="Picture 2" descr="International University - Download logo">
            <a:extLst>
              <a:ext uri="{FF2B5EF4-FFF2-40B4-BE49-F238E27FC236}">
                <a16:creationId xmlns:a16="http://schemas.microsoft.com/office/drawing/2014/main" id="{DA807D8D-BDB9-4304-BC66-C9CB2B2A2C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7928" y="53165"/>
            <a:ext cx="360907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A8D9712-6179-4788-9D96-FDD0817928FF}"/>
              </a:ext>
            </a:extLst>
          </p:cNvPr>
          <p:cNvPicPr>
            <a:picLocks/>
          </p:cNvPicPr>
          <p:nvPr/>
        </p:nvPicPr>
        <p:blipFill rotWithShape="1">
          <a:blip r:embed="rId4"/>
          <a:srcRect r="51842" b="3327"/>
          <a:stretch/>
        </p:blipFill>
        <p:spPr>
          <a:xfrm>
            <a:off x="108860" y="530158"/>
            <a:ext cx="50292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341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A4F826-3CDD-4AA6-98CF-31A7628D5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0417"/>
            <a:ext cx="12192000" cy="63971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56CABD-2EE0-4AFD-B135-2EEE13D31266}"/>
              </a:ext>
            </a:extLst>
          </p:cNvPr>
          <p:cNvSpPr txBox="1"/>
          <p:nvPr/>
        </p:nvSpPr>
        <p:spPr>
          <a:xfrm>
            <a:off x="0" y="0"/>
            <a:ext cx="5133975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Lecture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11</a:t>
            </a:r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 –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Key-point Detection</a:t>
            </a:r>
            <a:endParaRPr lang="vi-VN" sz="2000" b="1" dirty="0">
              <a:solidFill>
                <a:schemeClr val="accent6">
                  <a:lumMod val="50000"/>
                </a:schemeClr>
              </a:solidFill>
              <a:latin typeface="Bahnschrift Light Semi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2BCB13-6B1C-4DEB-A1F3-B422854E548F}"/>
              </a:ext>
            </a:extLst>
          </p:cNvPr>
          <p:cNvSpPr txBox="1"/>
          <p:nvPr/>
        </p:nvSpPr>
        <p:spPr>
          <a:xfrm>
            <a:off x="0" y="6488668"/>
            <a:ext cx="977265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Bahnschrift SemiBold" panose="020B0502040204020203" pitchFamily="34" charset="0"/>
              </a:rPr>
              <a:t>Image Processing: Dr. Nguyen Ngoc Truong Minh, @2024-2025 International University</a:t>
            </a:r>
            <a:endParaRPr lang="vi-VN" b="1" dirty="0">
              <a:solidFill>
                <a:srgbClr val="00206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7230F9A-B7E8-4581-ACD2-9B69D1AE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325" y="6393418"/>
            <a:ext cx="733425" cy="369332"/>
          </a:xfrm>
        </p:spPr>
        <p:txBody>
          <a:bodyPr/>
          <a:lstStyle/>
          <a:p>
            <a:pPr algn="ctr"/>
            <a:fld id="{65B0476F-0237-4A28-B412-F4FE7420337F}" type="slidenum">
              <a:rPr lang="vi-VN" sz="1800" b="1" smtClean="0">
                <a:solidFill>
                  <a:srgbClr val="7030A0"/>
                </a:solidFill>
                <a:latin typeface="Bahnschrift SemiLight" panose="020B0502040204020203" pitchFamily="34" charset="0"/>
              </a:rPr>
              <a:pPr algn="ctr"/>
              <a:t>26</a:t>
            </a:fld>
            <a:endParaRPr lang="vi-VN" sz="1800" b="1">
              <a:solidFill>
                <a:srgbClr val="7030A0"/>
              </a:solidFill>
              <a:latin typeface="Bahnschrift SemiLight" panose="020B0502040204020203" pitchFamily="34" charset="0"/>
            </a:endParaRPr>
          </a:p>
        </p:txBody>
      </p:sp>
      <p:pic>
        <p:nvPicPr>
          <p:cNvPr id="9" name="Picture 2" descr="International University - Download logo">
            <a:extLst>
              <a:ext uri="{FF2B5EF4-FFF2-40B4-BE49-F238E27FC236}">
                <a16:creationId xmlns:a16="http://schemas.microsoft.com/office/drawing/2014/main" id="{0F4598D3-D594-46BE-BA4F-AA0731B01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7928" y="53165"/>
            <a:ext cx="360907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B71221D-6955-4D01-A5E7-6B0B240E15A5}"/>
              </a:ext>
            </a:extLst>
          </p:cNvPr>
          <p:cNvPicPr>
            <a:picLocks/>
          </p:cNvPicPr>
          <p:nvPr/>
        </p:nvPicPr>
        <p:blipFill rotWithShape="1">
          <a:blip r:embed="rId4"/>
          <a:srcRect r="51842" b="3327"/>
          <a:stretch/>
        </p:blipFill>
        <p:spPr>
          <a:xfrm>
            <a:off x="108860" y="530158"/>
            <a:ext cx="50292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5024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991F18-3940-4BCE-809F-2DA313145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9829"/>
            <a:ext cx="12192000" cy="63583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56CABD-2EE0-4AFD-B135-2EEE13D31266}"/>
              </a:ext>
            </a:extLst>
          </p:cNvPr>
          <p:cNvSpPr txBox="1"/>
          <p:nvPr/>
        </p:nvSpPr>
        <p:spPr>
          <a:xfrm>
            <a:off x="0" y="0"/>
            <a:ext cx="5133975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Lecture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11</a:t>
            </a:r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 –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Key-point Detection</a:t>
            </a:r>
            <a:endParaRPr lang="vi-VN" sz="2000" b="1" dirty="0">
              <a:solidFill>
                <a:schemeClr val="accent6">
                  <a:lumMod val="50000"/>
                </a:schemeClr>
              </a:solidFill>
              <a:latin typeface="Bahnschrift Light Semi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2BCB13-6B1C-4DEB-A1F3-B422854E548F}"/>
              </a:ext>
            </a:extLst>
          </p:cNvPr>
          <p:cNvSpPr txBox="1"/>
          <p:nvPr/>
        </p:nvSpPr>
        <p:spPr>
          <a:xfrm>
            <a:off x="0" y="6488668"/>
            <a:ext cx="977265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Bahnschrift SemiBold" panose="020B0502040204020203" pitchFamily="34" charset="0"/>
              </a:rPr>
              <a:t>Image Processing: Dr. Nguyen Ngoc Truong Minh, @2024-2025 International University</a:t>
            </a:r>
            <a:endParaRPr lang="vi-VN" b="1" dirty="0">
              <a:solidFill>
                <a:srgbClr val="00206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7230F9A-B7E8-4581-ACD2-9B69D1AE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325" y="6393418"/>
            <a:ext cx="733425" cy="369332"/>
          </a:xfrm>
        </p:spPr>
        <p:txBody>
          <a:bodyPr/>
          <a:lstStyle/>
          <a:p>
            <a:pPr algn="ctr"/>
            <a:fld id="{65B0476F-0237-4A28-B412-F4FE7420337F}" type="slidenum">
              <a:rPr lang="vi-VN" sz="1800" b="1" smtClean="0">
                <a:solidFill>
                  <a:srgbClr val="7030A0"/>
                </a:solidFill>
                <a:latin typeface="Bahnschrift SemiLight" panose="020B0502040204020203" pitchFamily="34" charset="0"/>
              </a:rPr>
              <a:pPr algn="ctr"/>
              <a:t>27</a:t>
            </a:fld>
            <a:endParaRPr lang="vi-VN" sz="1800" b="1">
              <a:solidFill>
                <a:srgbClr val="7030A0"/>
              </a:solidFill>
              <a:latin typeface="Bahnschrift SemiLight" panose="020B0502040204020203" pitchFamily="34" charset="0"/>
            </a:endParaRPr>
          </a:p>
        </p:txBody>
      </p:sp>
      <p:pic>
        <p:nvPicPr>
          <p:cNvPr id="9" name="Picture 2" descr="International University - Download logo">
            <a:extLst>
              <a:ext uri="{FF2B5EF4-FFF2-40B4-BE49-F238E27FC236}">
                <a16:creationId xmlns:a16="http://schemas.microsoft.com/office/drawing/2014/main" id="{35B6A16D-2934-4AEF-877D-DE8323E685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7928" y="53165"/>
            <a:ext cx="360907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49CB1BF-3172-48C5-AA36-50B6BD709FCE}"/>
              </a:ext>
            </a:extLst>
          </p:cNvPr>
          <p:cNvPicPr>
            <a:picLocks/>
          </p:cNvPicPr>
          <p:nvPr/>
        </p:nvPicPr>
        <p:blipFill rotWithShape="1">
          <a:blip r:embed="rId4"/>
          <a:srcRect r="51842" b="3327"/>
          <a:stretch/>
        </p:blipFill>
        <p:spPr>
          <a:xfrm>
            <a:off x="108860" y="530158"/>
            <a:ext cx="50292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2794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A7B0AE-7897-4754-B487-078A839F7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0417"/>
            <a:ext cx="12192000" cy="63971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56CABD-2EE0-4AFD-B135-2EEE13D31266}"/>
              </a:ext>
            </a:extLst>
          </p:cNvPr>
          <p:cNvSpPr txBox="1"/>
          <p:nvPr/>
        </p:nvSpPr>
        <p:spPr>
          <a:xfrm>
            <a:off x="0" y="0"/>
            <a:ext cx="5133975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Lecture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11</a:t>
            </a:r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 –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Key-point Detection</a:t>
            </a:r>
            <a:endParaRPr lang="vi-VN" sz="2000" b="1" dirty="0">
              <a:solidFill>
                <a:schemeClr val="accent6">
                  <a:lumMod val="50000"/>
                </a:schemeClr>
              </a:solidFill>
              <a:latin typeface="Bahnschrift Light Semi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2BCB13-6B1C-4DEB-A1F3-B422854E548F}"/>
              </a:ext>
            </a:extLst>
          </p:cNvPr>
          <p:cNvSpPr txBox="1"/>
          <p:nvPr/>
        </p:nvSpPr>
        <p:spPr>
          <a:xfrm>
            <a:off x="0" y="6488668"/>
            <a:ext cx="977265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Bahnschrift SemiBold" panose="020B0502040204020203" pitchFamily="34" charset="0"/>
              </a:rPr>
              <a:t>Image Processing: Dr. Nguyen Ngoc Truong Minh, @2024-2025 International University</a:t>
            </a:r>
            <a:endParaRPr lang="vi-VN" b="1" dirty="0">
              <a:solidFill>
                <a:srgbClr val="00206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7230F9A-B7E8-4581-ACD2-9B69D1AE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325" y="6393418"/>
            <a:ext cx="733425" cy="369332"/>
          </a:xfrm>
        </p:spPr>
        <p:txBody>
          <a:bodyPr/>
          <a:lstStyle/>
          <a:p>
            <a:pPr algn="ctr"/>
            <a:fld id="{65B0476F-0237-4A28-B412-F4FE7420337F}" type="slidenum">
              <a:rPr lang="vi-VN" sz="1800" b="1" smtClean="0">
                <a:solidFill>
                  <a:srgbClr val="7030A0"/>
                </a:solidFill>
                <a:latin typeface="Bahnschrift SemiLight" panose="020B0502040204020203" pitchFamily="34" charset="0"/>
              </a:rPr>
              <a:pPr algn="ctr"/>
              <a:t>28</a:t>
            </a:fld>
            <a:endParaRPr lang="vi-VN" sz="1800" b="1">
              <a:solidFill>
                <a:srgbClr val="7030A0"/>
              </a:solidFill>
              <a:latin typeface="Bahnschrift SemiLight" panose="020B0502040204020203" pitchFamily="34" charset="0"/>
            </a:endParaRPr>
          </a:p>
        </p:txBody>
      </p:sp>
      <p:pic>
        <p:nvPicPr>
          <p:cNvPr id="9" name="Picture 2" descr="International University - Download logo">
            <a:extLst>
              <a:ext uri="{FF2B5EF4-FFF2-40B4-BE49-F238E27FC236}">
                <a16:creationId xmlns:a16="http://schemas.microsoft.com/office/drawing/2014/main" id="{3D7034C0-9982-4428-893B-6454591B4A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7928" y="53165"/>
            <a:ext cx="360907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9C9DC29-8BA7-4A8F-BB5A-D39E39F63033}"/>
              </a:ext>
            </a:extLst>
          </p:cNvPr>
          <p:cNvPicPr>
            <a:picLocks/>
          </p:cNvPicPr>
          <p:nvPr/>
        </p:nvPicPr>
        <p:blipFill rotWithShape="1">
          <a:blip r:embed="rId4"/>
          <a:srcRect r="51842" b="3327"/>
          <a:stretch/>
        </p:blipFill>
        <p:spPr>
          <a:xfrm>
            <a:off x="108860" y="530158"/>
            <a:ext cx="50292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4153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856CABD-2EE0-4AFD-B135-2EEE13D31266}"/>
              </a:ext>
            </a:extLst>
          </p:cNvPr>
          <p:cNvSpPr txBox="1"/>
          <p:nvPr/>
        </p:nvSpPr>
        <p:spPr>
          <a:xfrm>
            <a:off x="0" y="0"/>
            <a:ext cx="5133975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Lecture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11</a:t>
            </a:r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 –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Key-point Detection</a:t>
            </a:r>
            <a:endParaRPr lang="vi-VN" sz="2000" b="1" dirty="0">
              <a:solidFill>
                <a:schemeClr val="accent6">
                  <a:lumMod val="50000"/>
                </a:schemeClr>
              </a:solidFill>
              <a:latin typeface="Bahnschrift Light Semi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2BCB13-6B1C-4DEB-A1F3-B422854E548F}"/>
              </a:ext>
            </a:extLst>
          </p:cNvPr>
          <p:cNvSpPr txBox="1"/>
          <p:nvPr/>
        </p:nvSpPr>
        <p:spPr>
          <a:xfrm>
            <a:off x="0" y="6488668"/>
            <a:ext cx="977265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Bahnschrift SemiBold" panose="020B0502040204020203" pitchFamily="34" charset="0"/>
              </a:rPr>
              <a:t>Image Processing: Dr. Nguyen Ngoc Truong Minh, @2024-2025 International University</a:t>
            </a:r>
            <a:endParaRPr lang="vi-VN" b="1" dirty="0">
              <a:solidFill>
                <a:srgbClr val="00206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7230F9A-B7E8-4581-ACD2-9B69D1AE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325" y="6393418"/>
            <a:ext cx="733425" cy="369332"/>
          </a:xfrm>
        </p:spPr>
        <p:txBody>
          <a:bodyPr/>
          <a:lstStyle/>
          <a:p>
            <a:pPr algn="ctr"/>
            <a:fld id="{65B0476F-0237-4A28-B412-F4FE7420337F}" type="slidenum">
              <a:rPr lang="vi-VN" sz="1800" b="1" smtClean="0">
                <a:solidFill>
                  <a:srgbClr val="7030A0"/>
                </a:solidFill>
                <a:latin typeface="Bahnschrift SemiLight" panose="020B0502040204020203" pitchFamily="34" charset="0"/>
              </a:rPr>
              <a:pPr algn="ctr"/>
              <a:t>29</a:t>
            </a:fld>
            <a:endParaRPr lang="vi-VN" sz="1800" b="1">
              <a:solidFill>
                <a:srgbClr val="7030A0"/>
              </a:solidFill>
              <a:latin typeface="Bahnschrift SemiLight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88FFDE-5587-42C8-BA8F-9653ABD755F1}"/>
              </a:ext>
            </a:extLst>
          </p:cNvPr>
          <p:cNvSpPr txBox="1"/>
          <p:nvPr/>
        </p:nvSpPr>
        <p:spPr>
          <a:xfrm>
            <a:off x="1773621" y="725215"/>
            <a:ext cx="8644758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  <a:latin typeface="Bahnschrift Light SemiCondensed" panose="020B0502040204020203" pitchFamily="34" charset="0"/>
              </a:rPr>
              <a:t>FAST corner detection on smartphone</a:t>
            </a:r>
            <a:endParaRPr lang="vi-VN" sz="4000" b="1" dirty="0">
              <a:solidFill>
                <a:srgbClr val="C00000"/>
              </a:solidFill>
              <a:latin typeface="Bahnschrift Light SemiCondensed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3B87B8-0B64-4F03-BC21-90B1A44BCA07}"/>
              </a:ext>
            </a:extLst>
          </p:cNvPr>
          <p:cNvSpPr txBox="1"/>
          <p:nvPr/>
        </p:nvSpPr>
        <p:spPr>
          <a:xfrm>
            <a:off x="1736835" y="3136613"/>
            <a:ext cx="871833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vi-VN" sz="3200" dirty="0">
                <a:latin typeface="Bahnschrift Light SemiCondensed" panose="020B0502040204020203" pitchFamily="34" charset="0"/>
                <a:hlinkClick r:id="rId2"/>
              </a:rPr>
              <a:t>https://www.youtube.com/watch?v=Z_HwkG90Yvw</a:t>
            </a:r>
            <a:r>
              <a:rPr lang="en-US" sz="3200" dirty="0">
                <a:latin typeface="Bahnschrift Light SemiCondensed" panose="020B0502040204020203" pitchFamily="34" charset="0"/>
              </a:rPr>
              <a:t> </a:t>
            </a:r>
            <a:endParaRPr lang="vi-VN" sz="3200" dirty="0">
              <a:latin typeface="Bahnschrift Light SemiCondensed" panose="020B0502040204020203" pitchFamily="34" charset="0"/>
            </a:endParaRPr>
          </a:p>
        </p:txBody>
      </p:sp>
      <p:pic>
        <p:nvPicPr>
          <p:cNvPr id="11" name="Picture 2" descr="International University - Download logo">
            <a:extLst>
              <a:ext uri="{FF2B5EF4-FFF2-40B4-BE49-F238E27FC236}">
                <a16:creationId xmlns:a16="http://schemas.microsoft.com/office/drawing/2014/main" id="{3E9B9846-CA41-46AD-BB2B-905EABFF65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7928" y="53165"/>
            <a:ext cx="360907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BE01DC4-ED0B-423E-9351-9D249F0C04CF}"/>
              </a:ext>
            </a:extLst>
          </p:cNvPr>
          <p:cNvPicPr>
            <a:picLocks/>
          </p:cNvPicPr>
          <p:nvPr/>
        </p:nvPicPr>
        <p:blipFill rotWithShape="1">
          <a:blip r:embed="rId4"/>
          <a:srcRect r="51842" b="3327"/>
          <a:stretch/>
        </p:blipFill>
        <p:spPr>
          <a:xfrm>
            <a:off x="108860" y="530158"/>
            <a:ext cx="50292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4743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856CABD-2EE0-4AFD-B135-2EEE13D31266}"/>
              </a:ext>
            </a:extLst>
          </p:cNvPr>
          <p:cNvSpPr txBox="1"/>
          <p:nvPr/>
        </p:nvSpPr>
        <p:spPr>
          <a:xfrm>
            <a:off x="0" y="0"/>
            <a:ext cx="5133975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Lecture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11</a:t>
            </a:r>
            <a:r>
              <a:rPr lang="vi-VN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 –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Key-point Detection</a:t>
            </a:r>
            <a:endParaRPr lang="vi-VN" sz="2000" b="1" dirty="0">
              <a:solidFill>
                <a:schemeClr val="accent6">
                  <a:lumMod val="50000"/>
                </a:schemeClr>
              </a:solidFill>
              <a:latin typeface="Bahnschrift Light Semi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2BCB13-6B1C-4DEB-A1F3-B422854E548F}"/>
              </a:ext>
            </a:extLst>
          </p:cNvPr>
          <p:cNvSpPr txBox="1"/>
          <p:nvPr/>
        </p:nvSpPr>
        <p:spPr>
          <a:xfrm>
            <a:off x="0" y="6488668"/>
            <a:ext cx="977265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Bahnschrift SemiBold" panose="020B0502040204020203" pitchFamily="34" charset="0"/>
              </a:rPr>
              <a:t>Image Processing: Dr. Nguyen Ngoc Truong Minh, @2024-2025 International University</a:t>
            </a:r>
            <a:endParaRPr lang="vi-VN" b="1" dirty="0">
              <a:solidFill>
                <a:srgbClr val="00206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7230F9A-B7E8-4581-ACD2-9B69D1AE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325" y="6393418"/>
            <a:ext cx="733425" cy="369332"/>
          </a:xfrm>
        </p:spPr>
        <p:txBody>
          <a:bodyPr/>
          <a:lstStyle/>
          <a:p>
            <a:pPr algn="ctr"/>
            <a:fld id="{65B0476F-0237-4A28-B412-F4FE7420337F}" type="slidenum">
              <a:rPr lang="vi-VN" sz="1800" b="1" smtClean="0">
                <a:solidFill>
                  <a:srgbClr val="7030A0"/>
                </a:solidFill>
                <a:latin typeface="Bahnschrift SemiLight" panose="020B0502040204020203" pitchFamily="34" charset="0"/>
              </a:rPr>
              <a:pPr algn="ctr"/>
              <a:t>30</a:t>
            </a:fld>
            <a:endParaRPr lang="vi-VN" sz="1800" b="1">
              <a:solidFill>
                <a:srgbClr val="7030A0"/>
              </a:solidFill>
              <a:latin typeface="Bahnschrift Semi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8B0B3E-182A-443F-8066-56E99306E640}"/>
              </a:ext>
            </a:extLst>
          </p:cNvPr>
          <p:cNvSpPr txBox="1"/>
          <p:nvPr/>
        </p:nvSpPr>
        <p:spPr>
          <a:xfrm>
            <a:off x="1773621" y="725215"/>
            <a:ext cx="8644758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  <a:latin typeface="Bahnschrift Light SemiCondensed" panose="020B0502040204020203" pitchFamily="34" charset="0"/>
              </a:rPr>
              <a:t>FAST keypoint tracking on smartphone</a:t>
            </a:r>
            <a:endParaRPr lang="vi-VN" sz="4000" b="1" dirty="0">
              <a:solidFill>
                <a:srgbClr val="C00000"/>
              </a:solidFill>
              <a:latin typeface="Bahnschrift Light SemiCondensed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6BBBAE-E7FC-4C99-B0AD-285D54335060}"/>
              </a:ext>
            </a:extLst>
          </p:cNvPr>
          <p:cNvSpPr txBox="1"/>
          <p:nvPr/>
        </p:nvSpPr>
        <p:spPr>
          <a:xfrm>
            <a:off x="1736835" y="3136613"/>
            <a:ext cx="8826062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vi-VN" sz="3200" dirty="0">
                <a:latin typeface="Bahnschrift Light SemiCondensed" panose="020B0502040204020203" pitchFamily="34" charset="0"/>
                <a:hlinkClick r:id="rId2"/>
              </a:rPr>
              <a:t>https://www.youtube.com/watch?v=L7jbcOf5rDA</a:t>
            </a:r>
            <a:r>
              <a:rPr lang="en-US" sz="3200" dirty="0">
                <a:latin typeface="Bahnschrift Light SemiCondensed" panose="020B0502040204020203" pitchFamily="34" charset="0"/>
              </a:rPr>
              <a:t> </a:t>
            </a:r>
            <a:endParaRPr lang="vi-VN" sz="3200" dirty="0">
              <a:latin typeface="Bahnschrift Light SemiCondensed" panose="020B0502040204020203" pitchFamily="34" charset="0"/>
            </a:endParaRPr>
          </a:p>
        </p:txBody>
      </p:sp>
      <p:pic>
        <p:nvPicPr>
          <p:cNvPr id="10" name="Picture 2" descr="International University - Download logo">
            <a:extLst>
              <a:ext uri="{FF2B5EF4-FFF2-40B4-BE49-F238E27FC236}">
                <a16:creationId xmlns:a16="http://schemas.microsoft.com/office/drawing/2014/main" id="{2F9B718F-D8D7-4E07-971E-7977187BCA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7928" y="53165"/>
            <a:ext cx="360907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397389-BEF1-476F-B527-726501FE707F}"/>
              </a:ext>
            </a:extLst>
          </p:cNvPr>
          <p:cNvPicPr>
            <a:picLocks/>
          </p:cNvPicPr>
          <p:nvPr/>
        </p:nvPicPr>
        <p:blipFill rotWithShape="1">
          <a:blip r:embed="rId4"/>
          <a:srcRect r="51842" b="3327"/>
          <a:stretch/>
        </p:blipFill>
        <p:spPr>
          <a:xfrm>
            <a:off x="108860" y="530158"/>
            <a:ext cx="50292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4904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69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ts val="3200"/>
            </a:pPr>
            <a:r>
              <a:rPr lang="en-US" sz="4400" b="1" kern="1200" cap="all" dirty="0">
                <a:solidFill>
                  <a:schemeClr val="accent4">
                    <a:lumMod val="50000"/>
                  </a:schemeClr>
                </a:solidFill>
                <a:latin typeface="Bahnschrift Light SemiCondensed" panose="020B0502040204020203" pitchFamily="34" charset="0"/>
                <a:ea typeface="+mj-ea"/>
                <a:cs typeface="+mj-cs"/>
              </a:rPr>
              <a:t>END OF LECTURE 11</a:t>
            </a:r>
            <a:endParaRPr sz="4400" b="1" kern="1200" cap="all" dirty="0">
              <a:solidFill>
                <a:schemeClr val="accent4">
                  <a:lumMod val="50000"/>
                </a:schemeClr>
              </a:solidFill>
              <a:latin typeface="Bahnschrift Light SemiCondensed" panose="020B0502040204020203" pitchFamily="34" charset="0"/>
              <a:ea typeface="+mj-ea"/>
              <a:cs typeface="+mj-cs"/>
            </a:endParaRPr>
          </a:p>
        </p:txBody>
      </p:sp>
      <p:sp>
        <p:nvSpPr>
          <p:cNvPr id="616" name="Google Shape;616;p69"/>
          <p:cNvSpPr txBox="1"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>
              <a:spcAft>
                <a:spcPts val="0"/>
              </a:spcAft>
              <a:buSzPct val="100000"/>
              <a:buNone/>
            </a:pPr>
            <a:r>
              <a:rPr lang="en-US" sz="4400" b="1" kern="1200" dirty="0">
                <a:solidFill>
                  <a:srgbClr val="0070C0"/>
                </a:solidFill>
                <a:latin typeface="Bahnschrift Light SemiCondensed" panose="020B0502040204020203" pitchFamily="34" charset="0"/>
                <a:ea typeface="+mn-ea"/>
                <a:cs typeface="+mn-cs"/>
              </a:rPr>
              <a:t>LECTURE 12 – INTRODUCTION TO SPEECH PROCESSING</a:t>
            </a:r>
            <a:endParaRPr sz="4400" b="1" kern="1200" dirty="0">
              <a:solidFill>
                <a:srgbClr val="0070C0"/>
              </a:solidFill>
              <a:latin typeface="Bahnschrift Light SemiCondensed" panose="020B0502040204020203" pitchFamily="34" charset="0"/>
              <a:ea typeface="+mn-ea"/>
              <a:cs typeface="+mn-cs"/>
            </a:endParaRP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C9F5F78-537C-486D-8CE7-96DF25D7A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739" y="102740"/>
            <a:ext cx="4374667" cy="457200"/>
          </a:xfrm>
        </p:spPr>
        <p:txBody>
          <a:bodyPr vert="horz" lIns="91440" tIns="45720" rIns="91440" bIns="45720" rtlCol="0" anchor="ctr"/>
          <a:lstStyle/>
          <a:p>
            <a:r>
              <a:rPr lang="vi-VN" sz="18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Lecture </a:t>
            </a:r>
            <a:r>
              <a:rPr lang="en-US" sz="18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11</a:t>
            </a:r>
            <a:r>
              <a:rPr lang="vi-VN" sz="18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 – </a:t>
            </a:r>
            <a:r>
              <a:rPr lang="en-US" sz="1800" b="1" dirty="0">
                <a:solidFill>
                  <a:schemeClr val="accent6">
                    <a:lumMod val="50000"/>
                  </a:schemeClr>
                </a:solidFill>
                <a:latin typeface="Bahnschrift Light SemiCondensed" panose="020B0502040204020203" pitchFamily="34" charset="0"/>
              </a:rPr>
              <a:t>Key-point Detection</a:t>
            </a:r>
            <a:endParaRPr lang="vi-VN" sz="1800" b="1" dirty="0">
              <a:solidFill>
                <a:schemeClr val="accent6">
                  <a:lumMod val="50000"/>
                </a:schemeClr>
              </a:solidFill>
              <a:latin typeface="Bahnschrift Light SemiCondensed" panose="020B0502040204020203" pitchFamily="34" charset="0"/>
            </a:endParaRP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472AC8CE-81DF-482C-A658-F13537596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2121" y="108860"/>
            <a:ext cx="811019" cy="503578"/>
          </a:xfrm>
        </p:spPr>
        <p:txBody>
          <a:bodyPr anchor="ctr"/>
          <a:lstStyle/>
          <a:p>
            <a:pPr algn="ctr"/>
            <a:fld id="{9A698A5E-5E21-4EC3-A803-5C8F1359B044}" type="slidenum">
              <a:rPr lang="vi-VN" sz="1800" b="1" smtClean="0">
                <a:latin typeface="Bahnschrift Light SemiCondensed" panose="020B0502040204020203" pitchFamily="34" charset="0"/>
              </a:rPr>
              <a:pPr algn="ctr"/>
              <a:t>31</a:t>
            </a:fld>
            <a:endParaRPr lang="vi-VN" sz="1800" b="1">
              <a:latin typeface="Bahnschrift Light SemiCondensed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7A4D13-42F7-44A8-8FEC-10E1B701E26B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r="51842" b="3327"/>
          <a:stretch/>
        </p:blipFill>
        <p:spPr>
          <a:xfrm>
            <a:off x="108860" y="530158"/>
            <a:ext cx="50292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rgbClr val="000000"/>
      </a:dk1>
      <a:lt1>
        <a:srgbClr val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692</Words>
  <Application>Microsoft Office PowerPoint</Application>
  <PresentationFormat>Widescreen</PresentationFormat>
  <Paragraphs>104</Paragraphs>
  <Slides>31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Bahnschrift SemiBold SemiConden</vt:lpstr>
      <vt:lpstr>Calibri</vt:lpstr>
      <vt:lpstr>Bahnschrift SemiBold</vt:lpstr>
      <vt:lpstr>Arial</vt:lpstr>
      <vt:lpstr>Bahnschrift Light SemiCondensed</vt:lpstr>
      <vt:lpstr>Gill Sans</vt:lpstr>
      <vt:lpstr>Bahnschrift SemiLight</vt:lpstr>
      <vt:lpstr>Gallery</vt:lpstr>
      <vt:lpstr>part i image processing</vt:lpstr>
      <vt:lpstr>LECTURE XI – key-point detection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END OF LECTURE 11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 I IMAGE PROCESSING</dc:title>
  <dc:creator>Nguyễn Ngọc Trường Minh</dc:creator>
  <cp:lastModifiedBy>Nguyễn Ngọc Trường Minh</cp:lastModifiedBy>
  <cp:revision>61</cp:revision>
  <dcterms:created xsi:type="dcterms:W3CDTF">2020-11-23T15:59:49Z</dcterms:created>
  <dcterms:modified xsi:type="dcterms:W3CDTF">2025-12-17T11:12:42Z</dcterms:modified>
</cp:coreProperties>
</file>